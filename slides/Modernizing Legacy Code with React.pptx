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9"/>
  </p:notesMasterIdLst>
  <p:sldIdLst>
    <p:sldId id="2561" r:id="rId2"/>
    <p:sldId id="2601" r:id="rId3"/>
    <p:sldId id="2602" r:id="rId4"/>
    <p:sldId id="2562" r:id="rId5"/>
    <p:sldId id="2590" r:id="rId6"/>
    <p:sldId id="2563" r:id="rId7"/>
    <p:sldId id="2588" r:id="rId8"/>
    <p:sldId id="2564" r:id="rId9"/>
    <p:sldId id="2589" r:id="rId10"/>
    <p:sldId id="2565" r:id="rId11"/>
    <p:sldId id="2567" r:id="rId12"/>
    <p:sldId id="2568" r:id="rId13"/>
    <p:sldId id="2569" r:id="rId14"/>
    <p:sldId id="2570" r:id="rId15"/>
    <p:sldId id="2571" r:id="rId16"/>
    <p:sldId id="2572" r:id="rId17"/>
    <p:sldId id="2591" r:id="rId18"/>
    <p:sldId id="2597" r:id="rId19"/>
    <p:sldId id="2573" r:id="rId20"/>
    <p:sldId id="2598" r:id="rId21"/>
    <p:sldId id="2587" r:id="rId22"/>
    <p:sldId id="2594" r:id="rId23"/>
    <p:sldId id="2596" r:id="rId24"/>
    <p:sldId id="2595" r:id="rId25"/>
    <p:sldId id="2592" r:id="rId26"/>
    <p:sldId id="2599" r:id="rId27"/>
    <p:sldId id="2575" r:id="rId28"/>
    <p:sldId id="2577" r:id="rId29"/>
    <p:sldId id="2578" r:id="rId30"/>
    <p:sldId id="2579" r:id="rId31"/>
    <p:sldId id="2580" r:id="rId32"/>
    <p:sldId id="2581" r:id="rId33"/>
    <p:sldId id="2582" r:id="rId34"/>
    <p:sldId id="2584" r:id="rId35"/>
    <p:sldId id="2585" r:id="rId36"/>
    <p:sldId id="2600" r:id="rId37"/>
    <p:sldId id="2586" r:id="rId38"/>
  </p:sldIdLst>
  <p:sldSz cx="12192000" cy="6858000"/>
  <p:notesSz cx="6858000" cy="9144000"/>
  <p:defaultTextStyle>
    <a:defPPr>
      <a:defRPr lang="en-CH"/>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igrating a Legacy JSP Front-End to a Modern Single Page React Application" id="{2B82D70F-AD53-4919-B052-B1609F96F075}">
          <p14:sldIdLst>
            <p14:sldId id="2561"/>
            <p14:sldId id="2601"/>
            <p14:sldId id="2602"/>
            <p14:sldId id="2562"/>
            <p14:sldId id="2590"/>
          </p14:sldIdLst>
        </p14:section>
        <p14:section name="Introduction to React and its Benefits" id="{D3394F2B-DC8C-46E7-963F-0A94EF2B91E9}">
          <p14:sldIdLst>
            <p14:sldId id="2563"/>
            <p14:sldId id="2588"/>
            <p14:sldId id="2564"/>
            <p14:sldId id="2589"/>
            <p14:sldId id="2565"/>
          </p14:sldIdLst>
        </p14:section>
        <p14:section name="Core Concepts of React" id="{94927070-F33B-45B5-ACE4-945EA79CB311}">
          <p14:sldIdLst>
            <p14:sldId id="2567"/>
            <p14:sldId id="2568"/>
            <p14:sldId id="2569"/>
            <p14:sldId id="2570"/>
          </p14:sldIdLst>
        </p14:section>
        <p14:section name="Key Considerations for Migration" id="{EF7B35A0-77DD-408E-9BFF-27426888C4F7}">
          <p14:sldIdLst>
            <p14:sldId id="2571"/>
            <p14:sldId id="2572"/>
            <p14:sldId id="2591"/>
            <p14:sldId id="2597"/>
            <p14:sldId id="2573"/>
            <p14:sldId id="2598"/>
            <p14:sldId id="2587"/>
            <p14:sldId id="2594"/>
            <p14:sldId id="2596"/>
            <p14:sldId id="2595"/>
            <p14:sldId id="2592"/>
            <p14:sldId id="2599"/>
          </p14:sldIdLst>
        </p14:section>
        <p14:section name="Migration Path from JSP to React" id="{C7EC139E-A8CC-4ED8-942C-5D3E4BB1374F}">
          <p14:sldIdLst>
            <p14:sldId id="2575"/>
            <p14:sldId id="2577"/>
            <p14:sldId id="2578"/>
          </p14:sldIdLst>
        </p14:section>
        <p14:section name="Code Examples and Practical Implementation" id="{5D46EAC6-33B4-4B85-8EAD-30A9CDC7312F}">
          <p14:sldIdLst>
            <p14:sldId id="2579"/>
            <p14:sldId id="2580"/>
            <p14:sldId id="2581"/>
          </p14:sldIdLst>
        </p14:section>
        <p14:section name="Final Benefits of Migration" id="{16DE47CE-2586-441F-9C77-593AB23F50EE}">
          <p14:sldIdLst>
            <p14:sldId id="2582"/>
            <p14:sldId id="2584"/>
            <p14:sldId id="2585"/>
            <p14:sldId id="2600"/>
          </p14:sldIdLst>
        </p14:section>
        <p14:section name="Conclusion" id="{A4E58CE8-261C-4DA9-AFA8-9FEC48E5BD2E}">
          <p14:sldIdLst>
            <p14:sldId id="258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p:cViewPr varScale="1">
        <p:scale>
          <a:sx n="105" d="100"/>
          <a:sy n="105" d="100"/>
        </p:scale>
        <p:origin x="91" y="302"/>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diagrams/_rels/data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_rels/drawing1.xml.rels><?xml version="1.0" encoding="UTF-8" standalone="yes"?>
<Relationships xmlns="http://schemas.openxmlformats.org/package/2006/relationships"><Relationship Id="rId8" Type="http://schemas.openxmlformats.org/officeDocument/2006/relationships/image" Target="../media/image31.sv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svg"/><Relationship Id="rId2" Type="http://schemas.openxmlformats.org/officeDocument/2006/relationships/image" Target="../media/image25.svg"/><Relationship Id="rId1" Type="http://schemas.openxmlformats.org/officeDocument/2006/relationships/image" Target="../media/image24.png"/><Relationship Id="rId6" Type="http://schemas.openxmlformats.org/officeDocument/2006/relationships/image" Target="../media/image29.svg"/><Relationship Id="rId11" Type="http://schemas.openxmlformats.org/officeDocument/2006/relationships/image" Target="../media/image34.png"/><Relationship Id="rId5" Type="http://schemas.openxmlformats.org/officeDocument/2006/relationships/image" Target="../media/image28.png"/><Relationship Id="rId10" Type="http://schemas.openxmlformats.org/officeDocument/2006/relationships/image" Target="../media/image33.svg"/><Relationship Id="rId4" Type="http://schemas.openxmlformats.org/officeDocument/2006/relationships/image" Target="../media/image27.svg"/><Relationship Id="rId9" Type="http://schemas.openxmlformats.org/officeDocument/2006/relationships/image" Target="../media/image32.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D716FDB-1C41-4AA3-8A32-B7AE3D8C66C8}"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FFA01F5D-AB56-4246-A3D6-9D56B930BFDC}">
      <dgm:prSet/>
      <dgm:spPr/>
      <dgm:t>
        <a:bodyPr/>
        <a:lstStyle/>
        <a:p>
          <a:pPr>
            <a:lnSpc>
              <a:spcPct val="100000"/>
            </a:lnSpc>
          </a:pPr>
          <a:r>
            <a:rPr lang="en-GB" dirty="0"/>
            <a:t>Develop MUI based components</a:t>
          </a:r>
          <a:endParaRPr lang="en-US" dirty="0"/>
        </a:p>
      </dgm:t>
    </dgm:pt>
    <dgm:pt modelId="{D1DF5AD8-9A5C-4E95-9BD1-B95A313FDCEB}" type="parTrans" cxnId="{5E44BB4E-ED12-45EF-A700-6A3A47979D5E}">
      <dgm:prSet/>
      <dgm:spPr/>
      <dgm:t>
        <a:bodyPr/>
        <a:lstStyle/>
        <a:p>
          <a:endParaRPr lang="en-US"/>
        </a:p>
      </dgm:t>
    </dgm:pt>
    <dgm:pt modelId="{627977F0-7BCC-4AF8-9A1E-C67C138E00B2}" type="sibTrans" cxnId="{5E44BB4E-ED12-45EF-A700-6A3A47979D5E}">
      <dgm:prSet/>
      <dgm:spPr/>
      <dgm:t>
        <a:bodyPr/>
        <a:lstStyle/>
        <a:p>
          <a:endParaRPr lang="en-US"/>
        </a:p>
      </dgm:t>
    </dgm:pt>
    <dgm:pt modelId="{0D597450-715B-4FBD-9CEA-87E71A4658AF}">
      <dgm:prSet/>
      <dgm:spPr/>
      <dgm:t>
        <a:bodyPr/>
        <a:lstStyle/>
        <a:p>
          <a:pPr>
            <a:lnSpc>
              <a:spcPct val="100000"/>
            </a:lnSpc>
          </a:pPr>
          <a:r>
            <a:rPr lang="en-GB" dirty="0"/>
            <a:t>Determine the document with the most complex form</a:t>
          </a:r>
          <a:endParaRPr lang="en-US" dirty="0"/>
        </a:p>
      </dgm:t>
    </dgm:pt>
    <dgm:pt modelId="{A812E0EE-AA7C-4D1C-8B06-310501163D30}" type="parTrans" cxnId="{01145F8C-34E8-4D4D-B76D-86F6C0ABC4CF}">
      <dgm:prSet/>
      <dgm:spPr/>
      <dgm:t>
        <a:bodyPr/>
        <a:lstStyle/>
        <a:p>
          <a:endParaRPr lang="en-US"/>
        </a:p>
      </dgm:t>
    </dgm:pt>
    <dgm:pt modelId="{C5776FB3-180F-498C-BDC3-0CE70E1B93FB}" type="sibTrans" cxnId="{01145F8C-34E8-4D4D-B76D-86F6C0ABC4CF}">
      <dgm:prSet/>
      <dgm:spPr/>
      <dgm:t>
        <a:bodyPr/>
        <a:lstStyle/>
        <a:p>
          <a:endParaRPr lang="en-US"/>
        </a:p>
      </dgm:t>
    </dgm:pt>
    <dgm:pt modelId="{0361F95C-A5B8-45AC-A32B-242113A1F8A1}">
      <dgm:prSet/>
      <dgm:spPr/>
      <dgm:t>
        <a:bodyPr/>
        <a:lstStyle/>
        <a:p>
          <a:pPr>
            <a:lnSpc>
              <a:spcPct val="100000"/>
            </a:lnSpc>
          </a:pPr>
          <a:r>
            <a:rPr lang="en-GB"/>
            <a:t>Migrate the current document form as it is</a:t>
          </a:r>
          <a:endParaRPr lang="en-US"/>
        </a:p>
      </dgm:t>
    </dgm:pt>
    <dgm:pt modelId="{3248169F-A663-4025-AF6B-8BC61010C606}" type="parTrans" cxnId="{EB6FCBDA-BF71-4F95-8D1D-3657829B311E}">
      <dgm:prSet/>
      <dgm:spPr/>
      <dgm:t>
        <a:bodyPr/>
        <a:lstStyle/>
        <a:p>
          <a:endParaRPr lang="en-US"/>
        </a:p>
      </dgm:t>
    </dgm:pt>
    <dgm:pt modelId="{951481AA-EB3A-4626-9659-4D20F051A9F7}" type="sibTrans" cxnId="{EB6FCBDA-BF71-4F95-8D1D-3657829B311E}">
      <dgm:prSet/>
      <dgm:spPr/>
      <dgm:t>
        <a:bodyPr/>
        <a:lstStyle/>
        <a:p>
          <a:endParaRPr lang="en-US"/>
        </a:p>
      </dgm:t>
    </dgm:pt>
    <dgm:pt modelId="{C995DCF6-D0F4-4DAD-883C-985D77E1DC62}">
      <dgm:prSet/>
      <dgm:spPr/>
      <dgm:t>
        <a:bodyPr/>
        <a:lstStyle/>
        <a:p>
          <a:pPr>
            <a:lnSpc>
              <a:spcPct val="100000"/>
            </a:lnSpc>
          </a:pPr>
          <a:r>
            <a:rPr lang="en-GB" dirty="0"/>
            <a:t>Identify reusable form components for other documents</a:t>
          </a:r>
          <a:endParaRPr lang="en-US" dirty="0"/>
        </a:p>
      </dgm:t>
    </dgm:pt>
    <dgm:pt modelId="{8C99D970-5349-4612-837D-34A3C56F496A}" type="parTrans" cxnId="{AD0BFE22-0B64-4EE9-8F70-E6856DB988FF}">
      <dgm:prSet/>
      <dgm:spPr/>
      <dgm:t>
        <a:bodyPr/>
        <a:lstStyle/>
        <a:p>
          <a:endParaRPr lang="en-US"/>
        </a:p>
      </dgm:t>
    </dgm:pt>
    <dgm:pt modelId="{19B6E86A-F2A6-4C6A-B3D7-527F398FFC93}" type="sibTrans" cxnId="{AD0BFE22-0B64-4EE9-8F70-E6856DB988FF}">
      <dgm:prSet/>
      <dgm:spPr/>
      <dgm:t>
        <a:bodyPr/>
        <a:lstStyle/>
        <a:p>
          <a:endParaRPr lang="en-US"/>
        </a:p>
      </dgm:t>
    </dgm:pt>
    <dgm:pt modelId="{4403154B-3C05-4681-855F-B356C68CAC7A}">
      <dgm:prSet/>
      <dgm:spPr/>
      <dgm:t>
        <a:bodyPr/>
        <a:lstStyle/>
        <a:p>
          <a:pPr>
            <a:lnSpc>
              <a:spcPct val="100000"/>
            </a:lnSpc>
          </a:pPr>
          <a:r>
            <a:rPr lang="en-GB"/>
            <a:t>Generalize those components from the migrated form</a:t>
          </a:r>
          <a:endParaRPr lang="en-US"/>
        </a:p>
      </dgm:t>
    </dgm:pt>
    <dgm:pt modelId="{65A9687E-46FB-47FF-AD6A-ED6ABC0AA071}" type="parTrans" cxnId="{2C298F16-72E0-4D0A-9D99-2A5CF8268BA9}">
      <dgm:prSet/>
      <dgm:spPr/>
      <dgm:t>
        <a:bodyPr/>
        <a:lstStyle/>
        <a:p>
          <a:endParaRPr lang="en-US"/>
        </a:p>
      </dgm:t>
    </dgm:pt>
    <dgm:pt modelId="{F60BBF3F-61BC-4F19-B2DA-71D92E3D7EEA}" type="sibTrans" cxnId="{2C298F16-72E0-4D0A-9D99-2A5CF8268BA9}">
      <dgm:prSet/>
      <dgm:spPr/>
      <dgm:t>
        <a:bodyPr/>
        <a:lstStyle/>
        <a:p>
          <a:endParaRPr lang="en-US"/>
        </a:p>
      </dgm:t>
    </dgm:pt>
    <dgm:pt modelId="{0225878E-FF04-4885-B0DC-82B2995E5DB0}">
      <dgm:prSet/>
      <dgm:spPr/>
      <dgm:t>
        <a:bodyPr/>
        <a:lstStyle/>
        <a:p>
          <a:pPr>
            <a:lnSpc>
              <a:spcPct val="100000"/>
            </a:lnSpc>
          </a:pPr>
          <a:r>
            <a:rPr lang="en-GB"/>
            <a:t>Share through Storybook</a:t>
          </a:r>
          <a:endParaRPr lang="en-US"/>
        </a:p>
      </dgm:t>
    </dgm:pt>
    <dgm:pt modelId="{F2377681-44F7-42AB-B2DA-0932BFB5C8CF}" type="parTrans" cxnId="{2C349C60-1DEC-4994-8078-16D9C5962233}">
      <dgm:prSet/>
      <dgm:spPr/>
      <dgm:t>
        <a:bodyPr/>
        <a:lstStyle/>
        <a:p>
          <a:endParaRPr lang="en-US"/>
        </a:p>
      </dgm:t>
    </dgm:pt>
    <dgm:pt modelId="{34CEDBB2-9ABD-40E1-A23E-1C33F947A228}" type="sibTrans" cxnId="{2C349C60-1DEC-4994-8078-16D9C5962233}">
      <dgm:prSet/>
      <dgm:spPr/>
      <dgm:t>
        <a:bodyPr/>
        <a:lstStyle/>
        <a:p>
          <a:endParaRPr lang="en-US"/>
        </a:p>
      </dgm:t>
    </dgm:pt>
    <dgm:pt modelId="{32AC0BE4-FAED-4DCC-B563-546E72054FBD}" type="pres">
      <dgm:prSet presAssocID="{7D716FDB-1C41-4AA3-8A32-B7AE3D8C66C8}" presName="root" presStyleCnt="0">
        <dgm:presLayoutVars>
          <dgm:dir/>
          <dgm:resizeHandles val="exact"/>
        </dgm:presLayoutVars>
      </dgm:prSet>
      <dgm:spPr/>
    </dgm:pt>
    <dgm:pt modelId="{2D2F0E4C-3FDB-4941-B06A-5B88B40BA8F6}" type="pres">
      <dgm:prSet presAssocID="{0D597450-715B-4FBD-9CEA-87E71A4658AF}" presName="compNode" presStyleCnt="0"/>
      <dgm:spPr/>
    </dgm:pt>
    <dgm:pt modelId="{6E2813EA-F0EE-433E-8FEE-120B453B5175}" type="pres">
      <dgm:prSet presAssocID="{0D597450-715B-4FBD-9CEA-87E71A4658AF}" presName="bgRect" presStyleLbl="bgShp" presStyleIdx="0" presStyleCnt="6"/>
      <dgm:spPr/>
    </dgm:pt>
    <dgm:pt modelId="{35A5CFB2-ADAA-4D01-97C8-8DC9EC8F5427}" type="pres">
      <dgm:prSet presAssocID="{0D597450-715B-4FBD-9CEA-87E71A4658AF}" presName="iconRect" presStyleLbl="node1" presStyleIdx="0" presStyleCnt="6"/>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Document"/>
        </a:ext>
      </dgm:extLst>
    </dgm:pt>
    <dgm:pt modelId="{66D15111-70EA-435D-8382-5E544BD9454A}" type="pres">
      <dgm:prSet presAssocID="{0D597450-715B-4FBD-9CEA-87E71A4658AF}" presName="spaceRect" presStyleCnt="0"/>
      <dgm:spPr/>
    </dgm:pt>
    <dgm:pt modelId="{F3FE2552-B308-4726-B0DF-BAB55F05FD02}" type="pres">
      <dgm:prSet presAssocID="{0D597450-715B-4FBD-9CEA-87E71A4658AF}" presName="parTx" presStyleLbl="revTx" presStyleIdx="0" presStyleCnt="6">
        <dgm:presLayoutVars>
          <dgm:chMax val="0"/>
          <dgm:chPref val="0"/>
        </dgm:presLayoutVars>
      </dgm:prSet>
      <dgm:spPr/>
    </dgm:pt>
    <dgm:pt modelId="{407BCA00-85FC-473D-8415-7326585D1135}" type="pres">
      <dgm:prSet presAssocID="{C5776FB3-180F-498C-BDC3-0CE70E1B93FB}" presName="sibTrans" presStyleCnt="0"/>
      <dgm:spPr/>
    </dgm:pt>
    <dgm:pt modelId="{0708158C-8F0E-4707-B5DC-3301B934BEFA}" type="pres">
      <dgm:prSet presAssocID="{FFA01F5D-AB56-4246-A3D6-9D56B930BFDC}" presName="compNode" presStyleCnt="0"/>
      <dgm:spPr/>
    </dgm:pt>
    <dgm:pt modelId="{0A21D92E-9862-4FC9-BFD7-85A6819B40F2}" type="pres">
      <dgm:prSet presAssocID="{FFA01F5D-AB56-4246-A3D6-9D56B930BFDC}" presName="bgRect" presStyleLbl="bgShp" presStyleIdx="1" presStyleCnt="6"/>
      <dgm:spPr/>
    </dgm:pt>
    <dgm:pt modelId="{858C5532-EBBC-4BA8-900A-E5F34B4A8AC0}" type="pres">
      <dgm:prSet presAssocID="{FFA01F5D-AB56-4246-A3D6-9D56B930BFDC}" presName="iconRect" presStyleLbl="node1" presStyleIdx="1" presStyleCnt="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mart Phone"/>
        </a:ext>
      </dgm:extLst>
    </dgm:pt>
    <dgm:pt modelId="{E1196A56-DE56-4403-B384-4F585130C2C4}" type="pres">
      <dgm:prSet presAssocID="{FFA01F5D-AB56-4246-A3D6-9D56B930BFDC}" presName="spaceRect" presStyleCnt="0"/>
      <dgm:spPr/>
    </dgm:pt>
    <dgm:pt modelId="{AD77B515-5F1C-4CDC-8331-794DC49C5127}" type="pres">
      <dgm:prSet presAssocID="{FFA01F5D-AB56-4246-A3D6-9D56B930BFDC}" presName="parTx" presStyleLbl="revTx" presStyleIdx="1" presStyleCnt="6">
        <dgm:presLayoutVars>
          <dgm:chMax val="0"/>
          <dgm:chPref val="0"/>
        </dgm:presLayoutVars>
      </dgm:prSet>
      <dgm:spPr/>
    </dgm:pt>
    <dgm:pt modelId="{E7CB9CD2-AC9A-414E-B515-F603BFF0C1D7}" type="pres">
      <dgm:prSet presAssocID="{627977F0-7BCC-4AF8-9A1E-C67C138E00B2}" presName="sibTrans" presStyleCnt="0"/>
      <dgm:spPr/>
    </dgm:pt>
    <dgm:pt modelId="{9A578768-84CD-475C-9C52-9C5832D804F3}" type="pres">
      <dgm:prSet presAssocID="{0361F95C-A5B8-45AC-A32B-242113A1F8A1}" presName="compNode" presStyleCnt="0"/>
      <dgm:spPr/>
    </dgm:pt>
    <dgm:pt modelId="{6C9E8ECA-5E0E-4B37-A6E2-976EDF9800DA}" type="pres">
      <dgm:prSet presAssocID="{0361F95C-A5B8-45AC-A32B-242113A1F8A1}" presName="bgRect" presStyleLbl="bgShp" presStyleIdx="2" presStyleCnt="6"/>
      <dgm:spPr/>
    </dgm:pt>
    <dgm:pt modelId="{1B520A67-BBD3-4D45-8EEC-31EF34E00D06}" type="pres">
      <dgm:prSet presAssocID="{0361F95C-A5B8-45AC-A32B-242113A1F8A1}" presName="iconRect" presStyleLbl="node1" presStyleIdx="2" presStyleCnt="6"/>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Share"/>
        </a:ext>
      </dgm:extLst>
    </dgm:pt>
    <dgm:pt modelId="{28DE5E5F-37FA-4EA4-9FCF-F6831ABF4C4E}" type="pres">
      <dgm:prSet presAssocID="{0361F95C-A5B8-45AC-A32B-242113A1F8A1}" presName="spaceRect" presStyleCnt="0"/>
      <dgm:spPr/>
    </dgm:pt>
    <dgm:pt modelId="{2D8107A9-E711-4552-9D2E-10E27EC44501}" type="pres">
      <dgm:prSet presAssocID="{0361F95C-A5B8-45AC-A32B-242113A1F8A1}" presName="parTx" presStyleLbl="revTx" presStyleIdx="2" presStyleCnt="6">
        <dgm:presLayoutVars>
          <dgm:chMax val="0"/>
          <dgm:chPref val="0"/>
        </dgm:presLayoutVars>
      </dgm:prSet>
      <dgm:spPr/>
    </dgm:pt>
    <dgm:pt modelId="{942806F6-681A-492B-9F90-990D863735FF}" type="pres">
      <dgm:prSet presAssocID="{951481AA-EB3A-4626-9659-4D20F051A9F7}" presName="sibTrans" presStyleCnt="0"/>
      <dgm:spPr/>
    </dgm:pt>
    <dgm:pt modelId="{6CFDC2D5-C194-446A-B74C-5C2292C7ED04}" type="pres">
      <dgm:prSet presAssocID="{C995DCF6-D0F4-4DAD-883C-985D77E1DC62}" presName="compNode" presStyleCnt="0"/>
      <dgm:spPr/>
    </dgm:pt>
    <dgm:pt modelId="{8F1A227F-E9F3-4054-82D5-DEEA89DB17D7}" type="pres">
      <dgm:prSet presAssocID="{C995DCF6-D0F4-4DAD-883C-985D77E1DC62}" presName="bgRect" presStyleLbl="bgShp" presStyleIdx="3" presStyleCnt="6"/>
      <dgm:spPr/>
    </dgm:pt>
    <dgm:pt modelId="{A25F4468-8482-45B9-8985-E97D6F14BE10}" type="pres">
      <dgm:prSet presAssocID="{C995DCF6-D0F4-4DAD-883C-985D77E1DC62}" presName="iconRect" presStyleLbl="node1" presStyleIdx="3" presStyleCnt="6"/>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Check List"/>
        </a:ext>
      </dgm:extLst>
    </dgm:pt>
    <dgm:pt modelId="{3CF1DE12-96E5-4082-9633-D1F11435A5F0}" type="pres">
      <dgm:prSet presAssocID="{C995DCF6-D0F4-4DAD-883C-985D77E1DC62}" presName="spaceRect" presStyleCnt="0"/>
      <dgm:spPr/>
    </dgm:pt>
    <dgm:pt modelId="{632F8431-2680-4086-988E-56267F3D8B76}" type="pres">
      <dgm:prSet presAssocID="{C995DCF6-D0F4-4DAD-883C-985D77E1DC62}" presName="parTx" presStyleLbl="revTx" presStyleIdx="3" presStyleCnt="6">
        <dgm:presLayoutVars>
          <dgm:chMax val="0"/>
          <dgm:chPref val="0"/>
        </dgm:presLayoutVars>
      </dgm:prSet>
      <dgm:spPr/>
    </dgm:pt>
    <dgm:pt modelId="{70EAF612-1FB4-44FA-BE4C-56B630A40464}" type="pres">
      <dgm:prSet presAssocID="{19B6E86A-F2A6-4C6A-B3D7-527F398FFC93}" presName="sibTrans" presStyleCnt="0"/>
      <dgm:spPr/>
    </dgm:pt>
    <dgm:pt modelId="{CAF19A5C-E193-46A1-B5BE-E9192EC4FEA0}" type="pres">
      <dgm:prSet presAssocID="{4403154B-3C05-4681-855F-B356C68CAC7A}" presName="compNode" presStyleCnt="0"/>
      <dgm:spPr/>
    </dgm:pt>
    <dgm:pt modelId="{70C77ADD-601B-48B6-B3E9-58ED7380FC05}" type="pres">
      <dgm:prSet presAssocID="{4403154B-3C05-4681-855F-B356C68CAC7A}" presName="bgRect" presStyleLbl="bgShp" presStyleIdx="4" presStyleCnt="6"/>
      <dgm:spPr/>
    </dgm:pt>
    <dgm:pt modelId="{1D1F575E-66A0-4D04-8B30-0B543D2E4506}" type="pres">
      <dgm:prSet presAssocID="{4403154B-3C05-4681-855F-B356C68CAC7A}" presName="iconRect" presStyleLbl="node1" presStyleIdx="4" presStyleCnt="6"/>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User"/>
        </a:ext>
      </dgm:extLst>
    </dgm:pt>
    <dgm:pt modelId="{F4FD2DCE-3BFD-4583-852D-2250403B9A98}" type="pres">
      <dgm:prSet presAssocID="{4403154B-3C05-4681-855F-B356C68CAC7A}" presName="spaceRect" presStyleCnt="0"/>
      <dgm:spPr/>
    </dgm:pt>
    <dgm:pt modelId="{9B0400FB-F8CE-474A-9021-4215BEFEDBA8}" type="pres">
      <dgm:prSet presAssocID="{4403154B-3C05-4681-855F-B356C68CAC7A}" presName="parTx" presStyleLbl="revTx" presStyleIdx="4" presStyleCnt="6">
        <dgm:presLayoutVars>
          <dgm:chMax val="0"/>
          <dgm:chPref val="0"/>
        </dgm:presLayoutVars>
      </dgm:prSet>
      <dgm:spPr/>
    </dgm:pt>
    <dgm:pt modelId="{D1C61894-D678-4DD4-BA56-CAA300224AEB}" type="pres">
      <dgm:prSet presAssocID="{F60BBF3F-61BC-4F19-B2DA-71D92E3D7EEA}" presName="sibTrans" presStyleCnt="0"/>
      <dgm:spPr/>
    </dgm:pt>
    <dgm:pt modelId="{CF289C82-BA68-49B8-AB6C-52BD2084973A}" type="pres">
      <dgm:prSet presAssocID="{0225878E-FF04-4885-B0DC-82B2995E5DB0}" presName="compNode" presStyleCnt="0"/>
      <dgm:spPr/>
    </dgm:pt>
    <dgm:pt modelId="{93DA1B77-93FC-4EFB-8A79-824295CDC3A8}" type="pres">
      <dgm:prSet presAssocID="{0225878E-FF04-4885-B0DC-82B2995E5DB0}" presName="bgRect" presStyleLbl="bgShp" presStyleIdx="5" presStyleCnt="6"/>
      <dgm:spPr/>
    </dgm:pt>
    <dgm:pt modelId="{FAA71D98-D313-4672-BE75-FBD90DB6BF7B}" type="pres">
      <dgm:prSet presAssocID="{0225878E-FF04-4885-B0DC-82B2995E5DB0}" presName="iconRect" presStyleLbl="node1" presStyleIdx="5" presStyleCnt="6"/>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Users"/>
        </a:ext>
      </dgm:extLst>
    </dgm:pt>
    <dgm:pt modelId="{61E1DE7E-E085-45EC-933A-B12DDAC5BECD}" type="pres">
      <dgm:prSet presAssocID="{0225878E-FF04-4885-B0DC-82B2995E5DB0}" presName="spaceRect" presStyleCnt="0"/>
      <dgm:spPr/>
    </dgm:pt>
    <dgm:pt modelId="{2A2C990D-BC9E-497C-95B7-56C18EEE2AF5}" type="pres">
      <dgm:prSet presAssocID="{0225878E-FF04-4885-B0DC-82B2995E5DB0}" presName="parTx" presStyleLbl="revTx" presStyleIdx="5" presStyleCnt="6">
        <dgm:presLayoutVars>
          <dgm:chMax val="0"/>
          <dgm:chPref val="0"/>
        </dgm:presLayoutVars>
      </dgm:prSet>
      <dgm:spPr/>
    </dgm:pt>
  </dgm:ptLst>
  <dgm:cxnLst>
    <dgm:cxn modelId="{D023B106-B420-4AF8-B2A3-E89996709BA8}" type="presOf" srcId="{7D716FDB-1C41-4AA3-8A32-B7AE3D8C66C8}" destId="{32AC0BE4-FAED-4DCC-B563-546E72054FBD}" srcOrd="0" destOrd="0" presId="urn:microsoft.com/office/officeart/2018/2/layout/IconVerticalSolidList"/>
    <dgm:cxn modelId="{41313F11-3485-4332-87C8-712A76C91C3F}" type="presOf" srcId="{0225878E-FF04-4885-B0DC-82B2995E5DB0}" destId="{2A2C990D-BC9E-497C-95B7-56C18EEE2AF5}" srcOrd="0" destOrd="0" presId="urn:microsoft.com/office/officeart/2018/2/layout/IconVerticalSolidList"/>
    <dgm:cxn modelId="{2C298F16-72E0-4D0A-9D99-2A5CF8268BA9}" srcId="{7D716FDB-1C41-4AA3-8A32-B7AE3D8C66C8}" destId="{4403154B-3C05-4681-855F-B356C68CAC7A}" srcOrd="4" destOrd="0" parTransId="{65A9687E-46FB-47FF-AD6A-ED6ABC0AA071}" sibTransId="{F60BBF3F-61BC-4F19-B2DA-71D92E3D7EEA}"/>
    <dgm:cxn modelId="{DB7F891E-18DB-483C-A839-BF584B43FBB9}" type="presOf" srcId="{C995DCF6-D0F4-4DAD-883C-985D77E1DC62}" destId="{632F8431-2680-4086-988E-56267F3D8B76}" srcOrd="0" destOrd="0" presId="urn:microsoft.com/office/officeart/2018/2/layout/IconVerticalSolidList"/>
    <dgm:cxn modelId="{AD0BFE22-0B64-4EE9-8F70-E6856DB988FF}" srcId="{7D716FDB-1C41-4AA3-8A32-B7AE3D8C66C8}" destId="{C995DCF6-D0F4-4DAD-883C-985D77E1DC62}" srcOrd="3" destOrd="0" parTransId="{8C99D970-5349-4612-837D-34A3C56F496A}" sibTransId="{19B6E86A-F2A6-4C6A-B3D7-527F398FFC93}"/>
    <dgm:cxn modelId="{2C349C60-1DEC-4994-8078-16D9C5962233}" srcId="{7D716FDB-1C41-4AA3-8A32-B7AE3D8C66C8}" destId="{0225878E-FF04-4885-B0DC-82B2995E5DB0}" srcOrd="5" destOrd="0" parTransId="{F2377681-44F7-42AB-B2DA-0932BFB5C8CF}" sibTransId="{34CEDBB2-9ABD-40E1-A23E-1C33F947A228}"/>
    <dgm:cxn modelId="{7D67AB60-B2DA-49E8-A5A2-2E0045DA74B4}" type="presOf" srcId="{0361F95C-A5B8-45AC-A32B-242113A1F8A1}" destId="{2D8107A9-E711-4552-9D2E-10E27EC44501}" srcOrd="0" destOrd="0" presId="urn:microsoft.com/office/officeart/2018/2/layout/IconVerticalSolidList"/>
    <dgm:cxn modelId="{184E676B-295D-4979-AFA5-A60B56DD781E}" type="presOf" srcId="{0D597450-715B-4FBD-9CEA-87E71A4658AF}" destId="{F3FE2552-B308-4726-B0DF-BAB55F05FD02}" srcOrd="0" destOrd="0" presId="urn:microsoft.com/office/officeart/2018/2/layout/IconVerticalSolidList"/>
    <dgm:cxn modelId="{5E44BB4E-ED12-45EF-A700-6A3A47979D5E}" srcId="{7D716FDB-1C41-4AA3-8A32-B7AE3D8C66C8}" destId="{FFA01F5D-AB56-4246-A3D6-9D56B930BFDC}" srcOrd="1" destOrd="0" parTransId="{D1DF5AD8-9A5C-4E95-9BD1-B95A313FDCEB}" sibTransId="{627977F0-7BCC-4AF8-9A1E-C67C138E00B2}"/>
    <dgm:cxn modelId="{01145F8C-34E8-4D4D-B76D-86F6C0ABC4CF}" srcId="{7D716FDB-1C41-4AA3-8A32-B7AE3D8C66C8}" destId="{0D597450-715B-4FBD-9CEA-87E71A4658AF}" srcOrd="0" destOrd="0" parTransId="{A812E0EE-AA7C-4D1C-8B06-310501163D30}" sibTransId="{C5776FB3-180F-498C-BDC3-0CE70E1B93FB}"/>
    <dgm:cxn modelId="{59DDFBC0-233E-48D2-8717-8C8AA204ABD7}" type="presOf" srcId="{4403154B-3C05-4681-855F-B356C68CAC7A}" destId="{9B0400FB-F8CE-474A-9021-4215BEFEDBA8}" srcOrd="0" destOrd="0" presId="urn:microsoft.com/office/officeart/2018/2/layout/IconVerticalSolidList"/>
    <dgm:cxn modelId="{EB6FCBDA-BF71-4F95-8D1D-3657829B311E}" srcId="{7D716FDB-1C41-4AA3-8A32-B7AE3D8C66C8}" destId="{0361F95C-A5B8-45AC-A32B-242113A1F8A1}" srcOrd="2" destOrd="0" parTransId="{3248169F-A663-4025-AF6B-8BC61010C606}" sibTransId="{951481AA-EB3A-4626-9659-4D20F051A9F7}"/>
    <dgm:cxn modelId="{63E179F9-8CF1-44A5-932C-9918D39837EB}" type="presOf" srcId="{FFA01F5D-AB56-4246-A3D6-9D56B930BFDC}" destId="{AD77B515-5F1C-4CDC-8331-794DC49C5127}" srcOrd="0" destOrd="0" presId="urn:microsoft.com/office/officeart/2018/2/layout/IconVerticalSolidList"/>
    <dgm:cxn modelId="{0E98EF17-65A3-4A88-9C5F-5884D411BE10}" type="presParOf" srcId="{32AC0BE4-FAED-4DCC-B563-546E72054FBD}" destId="{2D2F0E4C-3FDB-4941-B06A-5B88B40BA8F6}" srcOrd="0" destOrd="0" presId="urn:microsoft.com/office/officeart/2018/2/layout/IconVerticalSolidList"/>
    <dgm:cxn modelId="{616D805D-A407-46CA-A2FF-6C862C758512}" type="presParOf" srcId="{2D2F0E4C-3FDB-4941-B06A-5B88B40BA8F6}" destId="{6E2813EA-F0EE-433E-8FEE-120B453B5175}" srcOrd="0" destOrd="0" presId="urn:microsoft.com/office/officeart/2018/2/layout/IconVerticalSolidList"/>
    <dgm:cxn modelId="{8FEC1370-B639-48D2-902A-4BB51972C880}" type="presParOf" srcId="{2D2F0E4C-3FDB-4941-B06A-5B88B40BA8F6}" destId="{35A5CFB2-ADAA-4D01-97C8-8DC9EC8F5427}" srcOrd="1" destOrd="0" presId="urn:microsoft.com/office/officeart/2018/2/layout/IconVerticalSolidList"/>
    <dgm:cxn modelId="{5D438E6B-50CD-4D8D-8A22-EE46E83B9817}" type="presParOf" srcId="{2D2F0E4C-3FDB-4941-B06A-5B88B40BA8F6}" destId="{66D15111-70EA-435D-8382-5E544BD9454A}" srcOrd="2" destOrd="0" presId="urn:microsoft.com/office/officeart/2018/2/layout/IconVerticalSolidList"/>
    <dgm:cxn modelId="{22934D4C-6365-4BE2-8B1F-FA6AD6F7A518}" type="presParOf" srcId="{2D2F0E4C-3FDB-4941-B06A-5B88B40BA8F6}" destId="{F3FE2552-B308-4726-B0DF-BAB55F05FD02}" srcOrd="3" destOrd="0" presId="urn:microsoft.com/office/officeart/2018/2/layout/IconVerticalSolidList"/>
    <dgm:cxn modelId="{6AAE75BC-BC9B-49C6-8DDD-0C1F6C6122EE}" type="presParOf" srcId="{32AC0BE4-FAED-4DCC-B563-546E72054FBD}" destId="{407BCA00-85FC-473D-8415-7326585D1135}" srcOrd="1" destOrd="0" presId="urn:microsoft.com/office/officeart/2018/2/layout/IconVerticalSolidList"/>
    <dgm:cxn modelId="{8A43238B-2BEC-44B7-BD9F-76CBDB0A135D}" type="presParOf" srcId="{32AC0BE4-FAED-4DCC-B563-546E72054FBD}" destId="{0708158C-8F0E-4707-B5DC-3301B934BEFA}" srcOrd="2" destOrd="0" presId="urn:microsoft.com/office/officeart/2018/2/layout/IconVerticalSolidList"/>
    <dgm:cxn modelId="{1B6D5196-2D92-458C-A690-2ED26226E42B}" type="presParOf" srcId="{0708158C-8F0E-4707-B5DC-3301B934BEFA}" destId="{0A21D92E-9862-4FC9-BFD7-85A6819B40F2}" srcOrd="0" destOrd="0" presId="urn:microsoft.com/office/officeart/2018/2/layout/IconVerticalSolidList"/>
    <dgm:cxn modelId="{A1B099D2-B468-4A4A-8674-631E67572FAB}" type="presParOf" srcId="{0708158C-8F0E-4707-B5DC-3301B934BEFA}" destId="{858C5532-EBBC-4BA8-900A-E5F34B4A8AC0}" srcOrd="1" destOrd="0" presId="urn:microsoft.com/office/officeart/2018/2/layout/IconVerticalSolidList"/>
    <dgm:cxn modelId="{17B7565C-7E1F-4379-A398-778EC518B82F}" type="presParOf" srcId="{0708158C-8F0E-4707-B5DC-3301B934BEFA}" destId="{E1196A56-DE56-4403-B384-4F585130C2C4}" srcOrd="2" destOrd="0" presId="urn:microsoft.com/office/officeart/2018/2/layout/IconVerticalSolidList"/>
    <dgm:cxn modelId="{563CDA98-600C-42F1-BB7C-EF74F36B41A6}" type="presParOf" srcId="{0708158C-8F0E-4707-B5DC-3301B934BEFA}" destId="{AD77B515-5F1C-4CDC-8331-794DC49C5127}" srcOrd="3" destOrd="0" presId="urn:microsoft.com/office/officeart/2018/2/layout/IconVerticalSolidList"/>
    <dgm:cxn modelId="{8DBE39FC-3264-47DE-9195-FA043277D2C1}" type="presParOf" srcId="{32AC0BE4-FAED-4DCC-B563-546E72054FBD}" destId="{E7CB9CD2-AC9A-414E-B515-F603BFF0C1D7}" srcOrd="3" destOrd="0" presId="urn:microsoft.com/office/officeart/2018/2/layout/IconVerticalSolidList"/>
    <dgm:cxn modelId="{96C939A6-A3D6-4F2E-BBF6-1F53CA6987F5}" type="presParOf" srcId="{32AC0BE4-FAED-4DCC-B563-546E72054FBD}" destId="{9A578768-84CD-475C-9C52-9C5832D804F3}" srcOrd="4" destOrd="0" presId="urn:microsoft.com/office/officeart/2018/2/layout/IconVerticalSolidList"/>
    <dgm:cxn modelId="{DC8A9119-5065-481E-9DA5-CA1236308186}" type="presParOf" srcId="{9A578768-84CD-475C-9C52-9C5832D804F3}" destId="{6C9E8ECA-5E0E-4B37-A6E2-976EDF9800DA}" srcOrd="0" destOrd="0" presId="urn:microsoft.com/office/officeart/2018/2/layout/IconVerticalSolidList"/>
    <dgm:cxn modelId="{D4617168-C1DC-487F-A7F4-B4D46485BA62}" type="presParOf" srcId="{9A578768-84CD-475C-9C52-9C5832D804F3}" destId="{1B520A67-BBD3-4D45-8EEC-31EF34E00D06}" srcOrd="1" destOrd="0" presId="urn:microsoft.com/office/officeart/2018/2/layout/IconVerticalSolidList"/>
    <dgm:cxn modelId="{5573365F-5B35-4F4C-859E-DEBE672D0036}" type="presParOf" srcId="{9A578768-84CD-475C-9C52-9C5832D804F3}" destId="{28DE5E5F-37FA-4EA4-9FCF-F6831ABF4C4E}" srcOrd="2" destOrd="0" presId="urn:microsoft.com/office/officeart/2018/2/layout/IconVerticalSolidList"/>
    <dgm:cxn modelId="{72206927-BE3A-41F4-A61C-482EBCF049CB}" type="presParOf" srcId="{9A578768-84CD-475C-9C52-9C5832D804F3}" destId="{2D8107A9-E711-4552-9D2E-10E27EC44501}" srcOrd="3" destOrd="0" presId="urn:microsoft.com/office/officeart/2018/2/layout/IconVerticalSolidList"/>
    <dgm:cxn modelId="{FAD7AA03-F1E0-470A-A392-2610247A40D3}" type="presParOf" srcId="{32AC0BE4-FAED-4DCC-B563-546E72054FBD}" destId="{942806F6-681A-492B-9F90-990D863735FF}" srcOrd="5" destOrd="0" presId="urn:microsoft.com/office/officeart/2018/2/layout/IconVerticalSolidList"/>
    <dgm:cxn modelId="{A4711EBF-0490-4AE8-9B2D-C6264C6ABC64}" type="presParOf" srcId="{32AC0BE4-FAED-4DCC-B563-546E72054FBD}" destId="{6CFDC2D5-C194-446A-B74C-5C2292C7ED04}" srcOrd="6" destOrd="0" presId="urn:microsoft.com/office/officeart/2018/2/layout/IconVerticalSolidList"/>
    <dgm:cxn modelId="{1C561F14-ADF1-4D8A-9EDA-5FAB59CC732B}" type="presParOf" srcId="{6CFDC2D5-C194-446A-B74C-5C2292C7ED04}" destId="{8F1A227F-E9F3-4054-82D5-DEEA89DB17D7}" srcOrd="0" destOrd="0" presId="urn:microsoft.com/office/officeart/2018/2/layout/IconVerticalSolidList"/>
    <dgm:cxn modelId="{BFF0B121-04B4-42AA-832E-ADE9AEEC9E35}" type="presParOf" srcId="{6CFDC2D5-C194-446A-B74C-5C2292C7ED04}" destId="{A25F4468-8482-45B9-8985-E97D6F14BE10}" srcOrd="1" destOrd="0" presId="urn:microsoft.com/office/officeart/2018/2/layout/IconVerticalSolidList"/>
    <dgm:cxn modelId="{2D99593D-2A58-4213-BF51-2A8301B0D293}" type="presParOf" srcId="{6CFDC2D5-C194-446A-B74C-5C2292C7ED04}" destId="{3CF1DE12-96E5-4082-9633-D1F11435A5F0}" srcOrd="2" destOrd="0" presId="urn:microsoft.com/office/officeart/2018/2/layout/IconVerticalSolidList"/>
    <dgm:cxn modelId="{B4D00C47-CEF5-48AF-9828-10FACCE1EC29}" type="presParOf" srcId="{6CFDC2D5-C194-446A-B74C-5C2292C7ED04}" destId="{632F8431-2680-4086-988E-56267F3D8B76}" srcOrd="3" destOrd="0" presId="urn:microsoft.com/office/officeart/2018/2/layout/IconVerticalSolidList"/>
    <dgm:cxn modelId="{1107702C-3B75-45AA-88EA-3112BD2D556A}" type="presParOf" srcId="{32AC0BE4-FAED-4DCC-B563-546E72054FBD}" destId="{70EAF612-1FB4-44FA-BE4C-56B630A40464}" srcOrd="7" destOrd="0" presId="urn:microsoft.com/office/officeart/2018/2/layout/IconVerticalSolidList"/>
    <dgm:cxn modelId="{1636393C-06EB-4B42-A3BE-8246E2C0023C}" type="presParOf" srcId="{32AC0BE4-FAED-4DCC-B563-546E72054FBD}" destId="{CAF19A5C-E193-46A1-B5BE-E9192EC4FEA0}" srcOrd="8" destOrd="0" presId="urn:microsoft.com/office/officeart/2018/2/layout/IconVerticalSolidList"/>
    <dgm:cxn modelId="{962FFDF6-08C9-4FAF-B72E-9E2DDF02D970}" type="presParOf" srcId="{CAF19A5C-E193-46A1-B5BE-E9192EC4FEA0}" destId="{70C77ADD-601B-48B6-B3E9-58ED7380FC05}" srcOrd="0" destOrd="0" presId="urn:microsoft.com/office/officeart/2018/2/layout/IconVerticalSolidList"/>
    <dgm:cxn modelId="{ECD61C7D-5753-4D73-8011-C2DB80D1F237}" type="presParOf" srcId="{CAF19A5C-E193-46A1-B5BE-E9192EC4FEA0}" destId="{1D1F575E-66A0-4D04-8B30-0B543D2E4506}" srcOrd="1" destOrd="0" presId="urn:microsoft.com/office/officeart/2018/2/layout/IconVerticalSolidList"/>
    <dgm:cxn modelId="{38118541-6E4D-450D-A9E3-5CC3E603E47D}" type="presParOf" srcId="{CAF19A5C-E193-46A1-B5BE-E9192EC4FEA0}" destId="{F4FD2DCE-3BFD-4583-852D-2250403B9A98}" srcOrd="2" destOrd="0" presId="urn:microsoft.com/office/officeart/2018/2/layout/IconVerticalSolidList"/>
    <dgm:cxn modelId="{9269AD99-590D-43C6-8DA1-ABA15A8BA9CC}" type="presParOf" srcId="{CAF19A5C-E193-46A1-B5BE-E9192EC4FEA0}" destId="{9B0400FB-F8CE-474A-9021-4215BEFEDBA8}" srcOrd="3" destOrd="0" presId="urn:microsoft.com/office/officeart/2018/2/layout/IconVerticalSolidList"/>
    <dgm:cxn modelId="{6A115C50-85AF-40F8-9C84-99F213CFD1C5}" type="presParOf" srcId="{32AC0BE4-FAED-4DCC-B563-546E72054FBD}" destId="{D1C61894-D678-4DD4-BA56-CAA300224AEB}" srcOrd="9" destOrd="0" presId="urn:microsoft.com/office/officeart/2018/2/layout/IconVerticalSolidList"/>
    <dgm:cxn modelId="{98DFD79F-24BE-4088-B553-745AA884BBB2}" type="presParOf" srcId="{32AC0BE4-FAED-4DCC-B563-546E72054FBD}" destId="{CF289C82-BA68-49B8-AB6C-52BD2084973A}" srcOrd="10" destOrd="0" presId="urn:microsoft.com/office/officeart/2018/2/layout/IconVerticalSolidList"/>
    <dgm:cxn modelId="{C6826261-DB18-4A39-923C-ED3DB6231504}" type="presParOf" srcId="{CF289C82-BA68-49B8-AB6C-52BD2084973A}" destId="{93DA1B77-93FC-4EFB-8A79-824295CDC3A8}" srcOrd="0" destOrd="0" presId="urn:microsoft.com/office/officeart/2018/2/layout/IconVerticalSolidList"/>
    <dgm:cxn modelId="{D0EABCDD-C0A4-41AB-B24B-8F1856012489}" type="presParOf" srcId="{CF289C82-BA68-49B8-AB6C-52BD2084973A}" destId="{FAA71D98-D313-4672-BE75-FBD90DB6BF7B}" srcOrd="1" destOrd="0" presId="urn:microsoft.com/office/officeart/2018/2/layout/IconVerticalSolidList"/>
    <dgm:cxn modelId="{BAF045B5-FF1D-44BA-91C5-0E0EC24FF438}" type="presParOf" srcId="{CF289C82-BA68-49B8-AB6C-52BD2084973A}" destId="{61E1DE7E-E085-45EC-933A-B12DDAC5BECD}" srcOrd="2" destOrd="0" presId="urn:microsoft.com/office/officeart/2018/2/layout/IconVerticalSolidList"/>
    <dgm:cxn modelId="{9B486EAC-65B3-4754-87A0-726628EB6493}" type="presParOf" srcId="{CF289C82-BA68-49B8-AB6C-52BD2084973A}" destId="{2A2C990D-BC9E-497C-95B7-56C18EEE2AF5}"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D9DAFC-F5A1-471C-95FF-AC6BD524625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ADF0BA3-E3FD-49B1-ADD6-E13EC55E17E1}">
      <dgm:prSet/>
      <dgm:spPr/>
      <dgm:t>
        <a:bodyPr/>
        <a:lstStyle/>
        <a:p>
          <a:pPr>
            <a:lnSpc>
              <a:spcPct val="100000"/>
            </a:lnSpc>
            <a:defRPr b="1"/>
          </a:pPr>
          <a:r>
            <a:rPr lang="en-GB"/>
            <a:t>Improved User Experience</a:t>
          </a:r>
          <a:endParaRPr lang="en-US"/>
        </a:p>
      </dgm:t>
    </dgm:pt>
    <dgm:pt modelId="{28C6E211-421E-4FD5-A9D2-CE38C3AD4517}" type="parTrans" cxnId="{8EA18DF9-1A92-4A01-863D-D2B47DB0D336}">
      <dgm:prSet/>
      <dgm:spPr/>
      <dgm:t>
        <a:bodyPr/>
        <a:lstStyle/>
        <a:p>
          <a:endParaRPr lang="en-US"/>
        </a:p>
      </dgm:t>
    </dgm:pt>
    <dgm:pt modelId="{B60A2F13-D29C-4484-82DE-C609530CB3CE}" type="sibTrans" cxnId="{8EA18DF9-1A92-4A01-863D-D2B47DB0D336}">
      <dgm:prSet/>
      <dgm:spPr/>
      <dgm:t>
        <a:bodyPr/>
        <a:lstStyle/>
        <a:p>
          <a:pPr>
            <a:lnSpc>
              <a:spcPct val="100000"/>
            </a:lnSpc>
            <a:defRPr b="1"/>
          </a:pPr>
          <a:endParaRPr lang="en-US"/>
        </a:p>
      </dgm:t>
    </dgm:pt>
    <dgm:pt modelId="{58A99CE9-55DC-4A7F-99B2-42FF7CA68175}">
      <dgm:prSet/>
      <dgm:spPr/>
      <dgm:t>
        <a:bodyPr/>
        <a:lstStyle/>
        <a:p>
          <a:pPr>
            <a:lnSpc>
              <a:spcPct val="100000"/>
            </a:lnSpc>
          </a:pPr>
          <a:r>
            <a:rPr lang="en-GB"/>
            <a:t>Migrating to a modern React application enhances the user interface, making it more intuitive and engaging for users.</a:t>
          </a:r>
          <a:endParaRPr lang="en-US"/>
        </a:p>
      </dgm:t>
    </dgm:pt>
    <dgm:pt modelId="{8D0F877D-9B5C-4DE5-AC85-5BF1EFCC9A11}" type="parTrans" cxnId="{4CE23422-23D1-4E16-9E64-2037EEC0C09A}">
      <dgm:prSet/>
      <dgm:spPr/>
      <dgm:t>
        <a:bodyPr/>
        <a:lstStyle/>
        <a:p>
          <a:endParaRPr lang="en-US"/>
        </a:p>
      </dgm:t>
    </dgm:pt>
    <dgm:pt modelId="{99A4E96D-812C-4188-B8F5-CD8220F44E19}" type="sibTrans" cxnId="{4CE23422-23D1-4E16-9E64-2037EEC0C09A}">
      <dgm:prSet/>
      <dgm:spPr/>
      <dgm:t>
        <a:bodyPr/>
        <a:lstStyle/>
        <a:p>
          <a:endParaRPr lang="en-US"/>
        </a:p>
      </dgm:t>
    </dgm:pt>
    <dgm:pt modelId="{C7C410B2-7676-4B2C-B392-8A72E539DF04}">
      <dgm:prSet/>
      <dgm:spPr/>
      <dgm:t>
        <a:bodyPr/>
        <a:lstStyle/>
        <a:p>
          <a:pPr>
            <a:lnSpc>
              <a:spcPct val="100000"/>
            </a:lnSpc>
            <a:defRPr b="1"/>
          </a:pPr>
          <a:r>
            <a:rPr lang="en-GB"/>
            <a:t>Faster Development Speed</a:t>
          </a:r>
          <a:endParaRPr lang="en-US"/>
        </a:p>
      </dgm:t>
    </dgm:pt>
    <dgm:pt modelId="{90E11457-3FC0-4F94-A6A1-9C224A0F0CC8}" type="parTrans" cxnId="{C7559F06-2409-48EE-9BC5-7C4D037D9B77}">
      <dgm:prSet/>
      <dgm:spPr/>
      <dgm:t>
        <a:bodyPr/>
        <a:lstStyle/>
        <a:p>
          <a:endParaRPr lang="en-US"/>
        </a:p>
      </dgm:t>
    </dgm:pt>
    <dgm:pt modelId="{C7DE634B-7517-4BE6-842A-FECC99FEF79F}" type="sibTrans" cxnId="{C7559F06-2409-48EE-9BC5-7C4D037D9B77}">
      <dgm:prSet/>
      <dgm:spPr/>
      <dgm:t>
        <a:bodyPr/>
        <a:lstStyle/>
        <a:p>
          <a:pPr>
            <a:lnSpc>
              <a:spcPct val="100000"/>
            </a:lnSpc>
            <a:defRPr b="1"/>
          </a:pPr>
          <a:endParaRPr lang="en-US"/>
        </a:p>
      </dgm:t>
    </dgm:pt>
    <dgm:pt modelId="{54D23A37-0347-4889-870A-65944B49BE4C}">
      <dgm:prSet/>
      <dgm:spPr/>
      <dgm:t>
        <a:bodyPr/>
        <a:lstStyle/>
        <a:p>
          <a:pPr>
            <a:lnSpc>
              <a:spcPct val="100000"/>
            </a:lnSpc>
          </a:pPr>
          <a:r>
            <a:rPr lang="en-GB"/>
            <a:t>React's component-based architecture allows for quicker development cycles, enabling teams to deliver features faster.</a:t>
          </a:r>
          <a:endParaRPr lang="en-US"/>
        </a:p>
      </dgm:t>
    </dgm:pt>
    <dgm:pt modelId="{3184BC02-D047-4EA7-835E-483EAD11F2F1}" type="parTrans" cxnId="{3E84E278-8079-4FF5-B2CC-0AE2F6986DD9}">
      <dgm:prSet/>
      <dgm:spPr/>
      <dgm:t>
        <a:bodyPr/>
        <a:lstStyle/>
        <a:p>
          <a:endParaRPr lang="en-US"/>
        </a:p>
      </dgm:t>
    </dgm:pt>
    <dgm:pt modelId="{E53CDEAA-1021-4205-9AE3-21E5BC9ADC53}" type="sibTrans" cxnId="{3E84E278-8079-4FF5-B2CC-0AE2F6986DD9}">
      <dgm:prSet/>
      <dgm:spPr/>
      <dgm:t>
        <a:bodyPr/>
        <a:lstStyle/>
        <a:p>
          <a:endParaRPr lang="en-US"/>
        </a:p>
      </dgm:t>
    </dgm:pt>
    <dgm:pt modelId="{F3F08F6E-661B-4081-8EDD-3346818B0692}">
      <dgm:prSet/>
      <dgm:spPr/>
      <dgm:t>
        <a:bodyPr/>
        <a:lstStyle/>
        <a:p>
          <a:pPr>
            <a:lnSpc>
              <a:spcPct val="100000"/>
            </a:lnSpc>
            <a:defRPr b="1"/>
          </a:pPr>
          <a:r>
            <a:rPr lang="en-GB"/>
            <a:t>Enhanced Maintainability</a:t>
          </a:r>
          <a:endParaRPr lang="en-US"/>
        </a:p>
      </dgm:t>
    </dgm:pt>
    <dgm:pt modelId="{1F16A0D1-0E6E-4F02-954B-188985521F69}" type="parTrans" cxnId="{2D5B5BBF-CBB2-4FD5-8062-931AF53091A8}">
      <dgm:prSet/>
      <dgm:spPr/>
      <dgm:t>
        <a:bodyPr/>
        <a:lstStyle/>
        <a:p>
          <a:endParaRPr lang="en-US"/>
        </a:p>
      </dgm:t>
    </dgm:pt>
    <dgm:pt modelId="{CF5B7CCA-F77F-466B-82E0-DA9DF980DDDC}" type="sibTrans" cxnId="{2D5B5BBF-CBB2-4FD5-8062-931AF53091A8}">
      <dgm:prSet/>
      <dgm:spPr/>
      <dgm:t>
        <a:bodyPr/>
        <a:lstStyle/>
        <a:p>
          <a:pPr>
            <a:lnSpc>
              <a:spcPct val="100000"/>
            </a:lnSpc>
            <a:defRPr b="1"/>
          </a:pPr>
          <a:endParaRPr lang="en-US"/>
        </a:p>
      </dgm:t>
    </dgm:pt>
    <dgm:pt modelId="{0A720999-6A2D-40BD-8A8A-21583ED4544D}">
      <dgm:prSet/>
      <dgm:spPr/>
      <dgm:t>
        <a:bodyPr/>
        <a:lstStyle/>
        <a:p>
          <a:pPr>
            <a:lnSpc>
              <a:spcPct val="100000"/>
            </a:lnSpc>
          </a:pPr>
          <a:r>
            <a:rPr lang="en-GB"/>
            <a:t>Transitioning to React improves code maintainability, making it easier to manage and update the application over time.</a:t>
          </a:r>
          <a:endParaRPr lang="en-US"/>
        </a:p>
      </dgm:t>
    </dgm:pt>
    <dgm:pt modelId="{A46F3416-BA11-4239-83B2-41F8AAB39052}" type="parTrans" cxnId="{18A679E0-97E6-4A4B-A93D-28E3339D1E4D}">
      <dgm:prSet/>
      <dgm:spPr/>
      <dgm:t>
        <a:bodyPr/>
        <a:lstStyle/>
        <a:p>
          <a:endParaRPr lang="en-US"/>
        </a:p>
      </dgm:t>
    </dgm:pt>
    <dgm:pt modelId="{AF9B4996-786B-4C2B-8E67-D7A4D52918AC}" type="sibTrans" cxnId="{18A679E0-97E6-4A4B-A93D-28E3339D1E4D}">
      <dgm:prSet/>
      <dgm:spPr/>
      <dgm:t>
        <a:bodyPr/>
        <a:lstStyle/>
        <a:p>
          <a:endParaRPr lang="en-US"/>
        </a:p>
      </dgm:t>
    </dgm:pt>
    <dgm:pt modelId="{93B51E24-2FE3-49DA-BDA8-F8D30D852A5C}">
      <dgm:prSet/>
      <dgm:spPr/>
      <dgm:t>
        <a:bodyPr/>
        <a:lstStyle/>
        <a:p>
          <a:pPr>
            <a:lnSpc>
              <a:spcPct val="100000"/>
            </a:lnSpc>
            <a:defRPr b="1"/>
          </a:pPr>
          <a:r>
            <a:rPr lang="en-GB"/>
            <a:t>Staying Competitive</a:t>
          </a:r>
          <a:endParaRPr lang="en-US"/>
        </a:p>
      </dgm:t>
    </dgm:pt>
    <dgm:pt modelId="{84E36369-E1FC-4ADA-A660-FCB3A2597DF8}" type="parTrans" cxnId="{F45A0D8C-4580-42DD-8FB5-D2232EDA4493}">
      <dgm:prSet/>
      <dgm:spPr/>
      <dgm:t>
        <a:bodyPr/>
        <a:lstStyle/>
        <a:p>
          <a:endParaRPr lang="en-US"/>
        </a:p>
      </dgm:t>
    </dgm:pt>
    <dgm:pt modelId="{0CFA331B-02DF-444E-AE49-B3FE4E903E03}" type="sibTrans" cxnId="{F45A0D8C-4580-42DD-8FB5-D2232EDA4493}">
      <dgm:prSet/>
      <dgm:spPr/>
      <dgm:t>
        <a:bodyPr/>
        <a:lstStyle/>
        <a:p>
          <a:endParaRPr lang="en-US"/>
        </a:p>
      </dgm:t>
    </dgm:pt>
    <dgm:pt modelId="{76EB4E1F-D1BC-42A6-8D7B-E80371DCF4E2}">
      <dgm:prSet/>
      <dgm:spPr/>
      <dgm:t>
        <a:bodyPr/>
        <a:lstStyle/>
        <a:p>
          <a:pPr>
            <a:lnSpc>
              <a:spcPct val="100000"/>
            </a:lnSpc>
          </a:pPr>
          <a:r>
            <a:rPr lang="en-GB"/>
            <a:t>Adopting modern technologies like React is crucial for businesses to remain competitive in a rapidly evolving digital landscape.</a:t>
          </a:r>
          <a:endParaRPr lang="en-US"/>
        </a:p>
      </dgm:t>
    </dgm:pt>
    <dgm:pt modelId="{30C7B1C3-D388-43CC-8FA2-B26E4940567C}" type="parTrans" cxnId="{B9D0E905-262C-4CCB-B52D-92D56A1C1EED}">
      <dgm:prSet/>
      <dgm:spPr/>
      <dgm:t>
        <a:bodyPr/>
        <a:lstStyle/>
        <a:p>
          <a:endParaRPr lang="en-US"/>
        </a:p>
      </dgm:t>
    </dgm:pt>
    <dgm:pt modelId="{07595A56-7350-4858-B85B-F001E26F80B1}" type="sibTrans" cxnId="{B9D0E905-262C-4CCB-B52D-92D56A1C1EED}">
      <dgm:prSet/>
      <dgm:spPr/>
      <dgm:t>
        <a:bodyPr/>
        <a:lstStyle/>
        <a:p>
          <a:endParaRPr lang="en-US"/>
        </a:p>
      </dgm:t>
    </dgm:pt>
    <dgm:pt modelId="{270AD3A8-2F27-4214-8644-2E73E9285338}" type="pres">
      <dgm:prSet presAssocID="{6DD9DAFC-F5A1-471C-95FF-AC6BD5246256}" presName="Name0" presStyleCnt="0">
        <dgm:presLayoutVars>
          <dgm:dir/>
          <dgm:resizeHandles val="exact"/>
        </dgm:presLayoutVars>
      </dgm:prSet>
      <dgm:spPr/>
    </dgm:pt>
    <dgm:pt modelId="{981E8D82-3F49-4AE0-AD50-39C3EBFD648C}" type="pres">
      <dgm:prSet presAssocID="{5ADF0BA3-E3FD-49B1-ADD6-E13EC55E17E1}" presName="compNode" presStyleCnt="0"/>
      <dgm:spPr/>
    </dgm:pt>
    <dgm:pt modelId="{217DF93C-CD64-4567-AFC7-ADA971FA9546}" type="pres">
      <dgm:prSet presAssocID="{5ADF0BA3-E3FD-49B1-ADD6-E13EC55E17E1}" presName="pictRect" presStyleLbl="revTx" presStyleIdx="0" presStyleCnt="8">
        <dgm:presLayoutVars>
          <dgm:chMax val="0"/>
          <dgm:bulletEnabled/>
        </dgm:presLayoutVars>
      </dgm:prSet>
      <dgm:spPr/>
    </dgm:pt>
    <dgm:pt modelId="{4EC86A8C-EE5B-4E7C-8559-5B03A65D02B0}" type="pres">
      <dgm:prSet presAssocID="{5ADF0BA3-E3FD-49B1-ADD6-E13EC55E17E1}" presName="textRect" presStyleLbl="revTx" presStyleIdx="1" presStyleCnt="8">
        <dgm:presLayoutVars>
          <dgm:bulletEnabled/>
        </dgm:presLayoutVars>
      </dgm:prSet>
      <dgm:spPr/>
    </dgm:pt>
    <dgm:pt modelId="{817E58F2-FC62-4A9A-8C6D-C28BC612A448}" type="pres">
      <dgm:prSet presAssocID="{B60A2F13-D29C-4484-82DE-C609530CB3CE}" presName="sibTrans" presStyleLbl="sibTrans2D1" presStyleIdx="0" presStyleCnt="0"/>
      <dgm:spPr/>
    </dgm:pt>
    <dgm:pt modelId="{4834FB36-945D-4E05-9E61-A4E3530CBEBD}" type="pres">
      <dgm:prSet presAssocID="{C7C410B2-7676-4B2C-B392-8A72E539DF04}" presName="compNode" presStyleCnt="0"/>
      <dgm:spPr/>
    </dgm:pt>
    <dgm:pt modelId="{E424072E-9861-486A-AE81-F4D8543D6D64}" type="pres">
      <dgm:prSet presAssocID="{C7C410B2-7676-4B2C-B392-8A72E539DF04}" presName="pictRect" presStyleLbl="revTx" presStyleIdx="2" presStyleCnt="8">
        <dgm:presLayoutVars>
          <dgm:chMax val="0"/>
          <dgm:bulletEnabled/>
        </dgm:presLayoutVars>
      </dgm:prSet>
      <dgm:spPr/>
    </dgm:pt>
    <dgm:pt modelId="{3C0099A2-E6BF-4104-B1CD-4E2FC12327A9}" type="pres">
      <dgm:prSet presAssocID="{C7C410B2-7676-4B2C-B392-8A72E539DF04}" presName="textRect" presStyleLbl="revTx" presStyleIdx="3" presStyleCnt="8">
        <dgm:presLayoutVars>
          <dgm:bulletEnabled/>
        </dgm:presLayoutVars>
      </dgm:prSet>
      <dgm:spPr/>
    </dgm:pt>
    <dgm:pt modelId="{223E7E26-8722-47EB-A9FC-E864DFE7D632}" type="pres">
      <dgm:prSet presAssocID="{C7DE634B-7517-4BE6-842A-FECC99FEF79F}" presName="sibTrans" presStyleLbl="sibTrans2D1" presStyleIdx="0" presStyleCnt="0"/>
      <dgm:spPr/>
    </dgm:pt>
    <dgm:pt modelId="{DC8B1515-6E82-441C-98C5-C00BEA281FA4}" type="pres">
      <dgm:prSet presAssocID="{F3F08F6E-661B-4081-8EDD-3346818B0692}" presName="compNode" presStyleCnt="0"/>
      <dgm:spPr/>
    </dgm:pt>
    <dgm:pt modelId="{AD300456-E61B-4561-82EC-B4D252EF00FC}" type="pres">
      <dgm:prSet presAssocID="{F3F08F6E-661B-4081-8EDD-3346818B0692}" presName="pictRect" presStyleLbl="revTx" presStyleIdx="4" presStyleCnt="8">
        <dgm:presLayoutVars>
          <dgm:chMax val="0"/>
          <dgm:bulletEnabled/>
        </dgm:presLayoutVars>
      </dgm:prSet>
      <dgm:spPr/>
    </dgm:pt>
    <dgm:pt modelId="{734565EA-2698-4AB9-8069-B0A2D7FDD54A}" type="pres">
      <dgm:prSet presAssocID="{F3F08F6E-661B-4081-8EDD-3346818B0692}" presName="textRect" presStyleLbl="revTx" presStyleIdx="5" presStyleCnt="8">
        <dgm:presLayoutVars>
          <dgm:bulletEnabled/>
        </dgm:presLayoutVars>
      </dgm:prSet>
      <dgm:spPr/>
    </dgm:pt>
    <dgm:pt modelId="{763B8099-2A44-4373-99F0-7F0A5DDE52AF}" type="pres">
      <dgm:prSet presAssocID="{CF5B7CCA-F77F-466B-82E0-DA9DF980DDDC}" presName="sibTrans" presStyleLbl="sibTrans2D1" presStyleIdx="0" presStyleCnt="0"/>
      <dgm:spPr/>
    </dgm:pt>
    <dgm:pt modelId="{C8EF8463-3C63-482F-86C4-A52149256B22}" type="pres">
      <dgm:prSet presAssocID="{93B51E24-2FE3-49DA-BDA8-F8D30D852A5C}" presName="compNode" presStyleCnt="0"/>
      <dgm:spPr/>
    </dgm:pt>
    <dgm:pt modelId="{BF7E22CF-7389-497B-A47E-FCB0833DF3E2}" type="pres">
      <dgm:prSet presAssocID="{93B51E24-2FE3-49DA-BDA8-F8D30D852A5C}" presName="pictRect" presStyleLbl="revTx" presStyleIdx="6" presStyleCnt="8">
        <dgm:presLayoutVars>
          <dgm:chMax val="0"/>
          <dgm:bulletEnabled/>
        </dgm:presLayoutVars>
      </dgm:prSet>
      <dgm:spPr/>
    </dgm:pt>
    <dgm:pt modelId="{A6E82152-DADE-4BA7-9480-E86466B4CDD8}" type="pres">
      <dgm:prSet presAssocID="{93B51E24-2FE3-49DA-BDA8-F8D30D852A5C}" presName="textRect" presStyleLbl="revTx" presStyleIdx="7" presStyleCnt="8">
        <dgm:presLayoutVars>
          <dgm:bulletEnabled/>
        </dgm:presLayoutVars>
      </dgm:prSet>
      <dgm:spPr/>
    </dgm:pt>
  </dgm:ptLst>
  <dgm:cxnLst>
    <dgm:cxn modelId="{9B457903-7548-41A7-ABB5-0C5358523326}" type="presOf" srcId="{0A720999-6A2D-40BD-8A8A-21583ED4544D}" destId="{734565EA-2698-4AB9-8069-B0A2D7FDD54A}" srcOrd="0" destOrd="0" presId="urn:microsoft.com/office/officeart/2024/3/layout/hArchList1"/>
    <dgm:cxn modelId="{B9D0E905-262C-4CCB-B52D-92D56A1C1EED}" srcId="{93B51E24-2FE3-49DA-BDA8-F8D30D852A5C}" destId="{76EB4E1F-D1BC-42A6-8D7B-E80371DCF4E2}" srcOrd="0" destOrd="0" parTransId="{30C7B1C3-D388-43CC-8FA2-B26E4940567C}" sibTransId="{07595A56-7350-4858-B85B-F001E26F80B1}"/>
    <dgm:cxn modelId="{C7559F06-2409-48EE-9BC5-7C4D037D9B77}" srcId="{6DD9DAFC-F5A1-471C-95FF-AC6BD5246256}" destId="{C7C410B2-7676-4B2C-B392-8A72E539DF04}" srcOrd="1" destOrd="0" parTransId="{90E11457-3FC0-4F94-A6A1-9C224A0F0CC8}" sibTransId="{C7DE634B-7517-4BE6-842A-FECC99FEF79F}"/>
    <dgm:cxn modelId="{3A211F0C-27EA-45D8-99FE-F15448A118E9}" type="presOf" srcId="{C7DE634B-7517-4BE6-842A-FECC99FEF79F}" destId="{223E7E26-8722-47EB-A9FC-E864DFE7D632}" srcOrd="0" destOrd="0" presId="urn:microsoft.com/office/officeart/2024/3/layout/hArchList1"/>
    <dgm:cxn modelId="{2EE3D020-7A5B-47C9-947D-7DDC0DB316FE}" type="presOf" srcId="{C7C410B2-7676-4B2C-B392-8A72E539DF04}" destId="{E424072E-9861-486A-AE81-F4D8543D6D64}" srcOrd="0" destOrd="0" presId="urn:microsoft.com/office/officeart/2024/3/layout/hArchList1"/>
    <dgm:cxn modelId="{4CE23422-23D1-4E16-9E64-2037EEC0C09A}" srcId="{5ADF0BA3-E3FD-49B1-ADD6-E13EC55E17E1}" destId="{58A99CE9-55DC-4A7F-99B2-42FF7CA68175}" srcOrd="0" destOrd="0" parTransId="{8D0F877D-9B5C-4DE5-AC85-5BF1EFCC9A11}" sibTransId="{99A4E96D-812C-4188-B8F5-CD8220F44E19}"/>
    <dgm:cxn modelId="{69D7792C-CFCF-4854-980E-27B941D83573}" type="presOf" srcId="{F3F08F6E-661B-4081-8EDD-3346818B0692}" destId="{AD300456-E61B-4561-82EC-B4D252EF00FC}" srcOrd="0" destOrd="0" presId="urn:microsoft.com/office/officeart/2024/3/layout/hArchList1"/>
    <dgm:cxn modelId="{8FEC4B72-407B-4FD1-A0D6-DDA695D8BB6F}" type="presOf" srcId="{93B51E24-2FE3-49DA-BDA8-F8D30D852A5C}" destId="{BF7E22CF-7389-497B-A47E-FCB0833DF3E2}" srcOrd="0" destOrd="0" presId="urn:microsoft.com/office/officeart/2024/3/layout/hArchList1"/>
    <dgm:cxn modelId="{D0324D54-7A7A-498F-9419-9EC0FF31F883}" type="presOf" srcId="{CF5B7CCA-F77F-466B-82E0-DA9DF980DDDC}" destId="{763B8099-2A44-4373-99F0-7F0A5DDE52AF}" srcOrd="0" destOrd="0" presId="urn:microsoft.com/office/officeart/2024/3/layout/hArchList1"/>
    <dgm:cxn modelId="{3E84E278-8079-4FF5-B2CC-0AE2F6986DD9}" srcId="{C7C410B2-7676-4B2C-B392-8A72E539DF04}" destId="{54D23A37-0347-4889-870A-65944B49BE4C}" srcOrd="0" destOrd="0" parTransId="{3184BC02-D047-4EA7-835E-483EAD11F2F1}" sibTransId="{E53CDEAA-1021-4205-9AE3-21E5BC9ADC53}"/>
    <dgm:cxn modelId="{D3BC997C-9458-4C89-8460-4D25A131A59F}" type="presOf" srcId="{76EB4E1F-D1BC-42A6-8D7B-E80371DCF4E2}" destId="{A6E82152-DADE-4BA7-9480-E86466B4CDD8}" srcOrd="0" destOrd="0" presId="urn:microsoft.com/office/officeart/2024/3/layout/hArchList1"/>
    <dgm:cxn modelId="{F45A0D8C-4580-42DD-8FB5-D2232EDA4493}" srcId="{6DD9DAFC-F5A1-471C-95FF-AC6BD5246256}" destId="{93B51E24-2FE3-49DA-BDA8-F8D30D852A5C}" srcOrd="3" destOrd="0" parTransId="{84E36369-E1FC-4ADA-A660-FCB3A2597DF8}" sibTransId="{0CFA331B-02DF-444E-AE49-B3FE4E903E03}"/>
    <dgm:cxn modelId="{0635B58F-D75E-461F-B7D1-328A2649BC64}" type="presOf" srcId="{5ADF0BA3-E3FD-49B1-ADD6-E13EC55E17E1}" destId="{217DF93C-CD64-4567-AFC7-ADA971FA9546}" srcOrd="0" destOrd="0" presId="urn:microsoft.com/office/officeart/2024/3/layout/hArchList1"/>
    <dgm:cxn modelId="{A1553DA9-83A9-4BED-AAED-BD57574BCAB0}" type="presOf" srcId="{6DD9DAFC-F5A1-471C-95FF-AC6BD5246256}" destId="{270AD3A8-2F27-4214-8644-2E73E9285338}" srcOrd="0" destOrd="0" presId="urn:microsoft.com/office/officeart/2024/3/layout/hArchList1"/>
    <dgm:cxn modelId="{258BE3AA-492E-4D45-BAE1-47A8754186B1}" type="presOf" srcId="{58A99CE9-55DC-4A7F-99B2-42FF7CA68175}" destId="{4EC86A8C-EE5B-4E7C-8559-5B03A65D02B0}" srcOrd="0" destOrd="0" presId="urn:microsoft.com/office/officeart/2024/3/layout/hArchList1"/>
    <dgm:cxn modelId="{2D5B5BBF-CBB2-4FD5-8062-931AF53091A8}" srcId="{6DD9DAFC-F5A1-471C-95FF-AC6BD5246256}" destId="{F3F08F6E-661B-4081-8EDD-3346818B0692}" srcOrd="2" destOrd="0" parTransId="{1F16A0D1-0E6E-4F02-954B-188985521F69}" sibTransId="{CF5B7CCA-F77F-466B-82E0-DA9DF980DDDC}"/>
    <dgm:cxn modelId="{18A679E0-97E6-4A4B-A93D-28E3339D1E4D}" srcId="{F3F08F6E-661B-4081-8EDD-3346818B0692}" destId="{0A720999-6A2D-40BD-8A8A-21583ED4544D}" srcOrd="0" destOrd="0" parTransId="{A46F3416-BA11-4239-83B2-41F8AAB39052}" sibTransId="{AF9B4996-786B-4C2B-8E67-D7A4D52918AC}"/>
    <dgm:cxn modelId="{BFCE9FEC-41F5-4A3A-9381-41A5B6547454}" type="presOf" srcId="{B60A2F13-D29C-4484-82DE-C609530CB3CE}" destId="{817E58F2-FC62-4A9A-8C6D-C28BC612A448}" srcOrd="0" destOrd="0" presId="urn:microsoft.com/office/officeart/2024/3/layout/hArchList1"/>
    <dgm:cxn modelId="{2A6BABEE-A34C-4477-A135-C0A1D5FC9D74}" type="presOf" srcId="{54D23A37-0347-4889-870A-65944B49BE4C}" destId="{3C0099A2-E6BF-4104-B1CD-4E2FC12327A9}" srcOrd="0" destOrd="0" presId="urn:microsoft.com/office/officeart/2024/3/layout/hArchList1"/>
    <dgm:cxn modelId="{8EA18DF9-1A92-4A01-863D-D2B47DB0D336}" srcId="{6DD9DAFC-F5A1-471C-95FF-AC6BD5246256}" destId="{5ADF0BA3-E3FD-49B1-ADD6-E13EC55E17E1}" srcOrd="0" destOrd="0" parTransId="{28C6E211-421E-4FD5-A9D2-CE38C3AD4517}" sibTransId="{B60A2F13-D29C-4484-82DE-C609530CB3CE}"/>
    <dgm:cxn modelId="{A7A29E46-23C2-4631-86D5-9B4C3F33D907}" type="presParOf" srcId="{270AD3A8-2F27-4214-8644-2E73E9285338}" destId="{981E8D82-3F49-4AE0-AD50-39C3EBFD648C}" srcOrd="0" destOrd="0" presId="urn:microsoft.com/office/officeart/2024/3/layout/hArchList1"/>
    <dgm:cxn modelId="{90D914B1-9F22-4911-A46B-888B8C408EA9}" type="presParOf" srcId="{981E8D82-3F49-4AE0-AD50-39C3EBFD648C}" destId="{217DF93C-CD64-4567-AFC7-ADA971FA9546}" srcOrd="0" destOrd="0" presId="urn:microsoft.com/office/officeart/2024/3/layout/hArchList1"/>
    <dgm:cxn modelId="{8A4EB215-FD97-41F4-9C3E-408D732335D9}" type="presParOf" srcId="{981E8D82-3F49-4AE0-AD50-39C3EBFD648C}" destId="{4EC86A8C-EE5B-4E7C-8559-5B03A65D02B0}" srcOrd="1" destOrd="0" presId="urn:microsoft.com/office/officeart/2024/3/layout/hArchList1"/>
    <dgm:cxn modelId="{8AE76D1E-355E-4FC0-9BB2-1429542E329E}" type="presParOf" srcId="{270AD3A8-2F27-4214-8644-2E73E9285338}" destId="{817E58F2-FC62-4A9A-8C6D-C28BC612A448}" srcOrd="1" destOrd="0" presId="urn:microsoft.com/office/officeart/2024/3/layout/hArchList1"/>
    <dgm:cxn modelId="{D12EDA62-84BD-4D4D-AA52-127A6271E906}" type="presParOf" srcId="{270AD3A8-2F27-4214-8644-2E73E9285338}" destId="{4834FB36-945D-4E05-9E61-A4E3530CBEBD}" srcOrd="2" destOrd="0" presId="urn:microsoft.com/office/officeart/2024/3/layout/hArchList1"/>
    <dgm:cxn modelId="{7042546A-5432-4AAD-A80D-34D32B13A793}" type="presParOf" srcId="{4834FB36-945D-4E05-9E61-A4E3530CBEBD}" destId="{E424072E-9861-486A-AE81-F4D8543D6D64}" srcOrd="0" destOrd="0" presId="urn:microsoft.com/office/officeart/2024/3/layout/hArchList1"/>
    <dgm:cxn modelId="{B2CD9CDA-CEF4-4AA1-8BC6-0431365F7942}" type="presParOf" srcId="{4834FB36-945D-4E05-9E61-A4E3530CBEBD}" destId="{3C0099A2-E6BF-4104-B1CD-4E2FC12327A9}" srcOrd="1" destOrd="0" presId="urn:microsoft.com/office/officeart/2024/3/layout/hArchList1"/>
    <dgm:cxn modelId="{CFF4F8ED-87C4-47FE-A94B-90412E118D29}" type="presParOf" srcId="{270AD3A8-2F27-4214-8644-2E73E9285338}" destId="{223E7E26-8722-47EB-A9FC-E864DFE7D632}" srcOrd="3" destOrd="0" presId="urn:microsoft.com/office/officeart/2024/3/layout/hArchList1"/>
    <dgm:cxn modelId="{517E95D8-96AB-481C-8751-96BEE0CF7515}" type="presParOf" srcId="{270AD3A8-2F27-4214-8644-2E73E9285338}" destId="{DC8B1515-6E82-441C-98C5-C00BEA281FA4}" srcOrd="4" destOrd="0" presId="urn:microsoft.com/office/officeart/2024/3/layout/hArchList1"/>
    <dgm:cxn modelId="{FEC70E4E-50CB-48FE-B20F-AB87C82D64B9}" type="presParOf" srcId="{DC8B1515-6E82-441C-98C5-C00BEA281FA4}" destId="{AD300456-E61B-4561-82EC-B4D252EF00FC}" srcOrd="0" destOrd="0" presId="urn:microsoft.com/office/officeart/2024/3/layout/hArchList1"/>
    <dgm:cxn modelId="{4EBA57A9-3851-4E2D-95E2-F58FE6F63897}" type="presParOf" srcId="{DC8B1515-6E82-441C-98C5-C00BEA281FA4}" destId="{734565EA-2698-4AB9-8069-B0A2D7FDD54A}" srcOrd="1" destOrd="0" presId="urn:microsoft.com/office/officeart/2024/3/layout/hArchList1"/>
    <dgm:cxn modelId="{1F0B94AD-A830-44D9-BD97-FB6418506D1A}" type="presParOf" srcId="{270AD3A8-2F27-4214-8644-2E73E9285338}" destId="{763B8099-2A44-4373-99F0-7F0A5DDE52AF}" srcOrd="5" destOrd="0" presId="urn:microsoft.com/office/officeart/2024/3/layout/hArchList1"/>
    <dgm:cxn modelId="{F16C83F2-4FD7-4FD6-9BB9-64B47F11A9CD}" type="presParOf" srcId="{270AD3A8-2F27-4214-8644-2E73E9285338}" destId="{C8EF8463-3C63-482F-86C4-A52149256B22}" srcOrd="6" destOrd="0" presId="urn:microsoft.com/office/officeart/2024/3/layout/hArchList1"/>
    <dgm:cxn modelId="{C06BE02C-A3C6-4DAD-9152-4B0AAAB94E97}" type="presParOf" srcId="{C8EF8463-3C63-482F-86C4-A52149256B22}" destId="{BF7E22CF-7389-497B-A47E-FCB0833DF3E2}" srcOrd="0" destOrd="0" presId="urn:microsoft.com/office/officeart/2024/3/layout/hArchList1"/>
    <dgm:cxn modelId="{10BC8D43-5902-4007-9CB8-F9823E30810D}" type="presParOf" srcId="{C8EF8463-3C63-482F-86C4-A52149256B22}" destId="{A6E82152-DADE-4BA7-9480-E86466B4CDD8}"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E2813EA-F0EE-433E-8FEE-120B453B5175}">
      <dsp:nvSpPr>
        <dsp:cNvPr id="0" name=""/>
        <dsp:cNvSpPr/>
      </dsp:nvSpPr>
      <dsp:spPr>
        <a:xfrm>
          <a:off x="0" y="1407"/>
          <a:ext cx="5181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5A5CFB2-ADAA-4D01-97C8-8DC9EC8F5427}">
      <dsp:nvSpPr>
        <dsp:cNvPr id="0" name=""/>
        <dsp:cNvSpPr/>
      </dsp:nvSpPr>
      <dsp:spPr>
        <a:xfrm>
          <a:off x="181438" y="136361"/>
          <a:ext cx="329887" cy="329887"/>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3FE2552-B308-4726-B0DF-BAB55F05FD02}">
      <dsp:nvSpPr>
        <dsp:cNvPr id="0" name=""/>
        <dsp:cNvSpPr/>
      </dsp:nvSpPr>
      <dsp:spPr>
        <a:xfrm>
          <a:off x="692764" y="1407"/>
          <a:ext cx="4488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GB" sz="1500" kern="1200" dirty="0"/>
            <a:t>Determine the document with the most complex form</a:t>
          </a:r>
          <a:endParaRPr lang="en-US" sz="1500" kern="1200" dirty="0"/>
        </a:p>
      </dsp:txBody>
      <dsp:txXfrm>
        <a:off x="692764" y="1407"/>
        <a:ext cx="4488835" cy="599796"/>
      </dsp:txXfrm>
    </dsp:sp>
    <dsp:sp modelId="{0A21D92E-9862-4FC9-BFD7-85A6819B40F2}">
      <dsp:nvSpPr>
        <dsp:cNvPr id="0" name=""/>
        <dsp:cNvSpPr/>
      </dsp:nvSpPr>
      <dsp:spPr>
        <a:xfrm>
          <a:off x="0" y="751152"/>
          <a:ext cx="5181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8C5532-EBBC-4BA8-900A-E5F34B4A8AC0}">
      <dsp:nvSpPr>
        <dsp:cNvPr id="0" name=""/>
        <dsp:cNvSpPr/>
      </dsp:nvSpPr>
      <dsp:spPr>
        <a:xfrm>
          <a:off x="181438" y="886107"/>
          <a:ext cx="329887" cy="329887"/>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D77B515-5F1C-4CDC-8331-794DC49C5127}">
      <dsp:nvSpPr>
        <dsp:cNvPr id="0" name=""/>
        <dsp:cNvSpPr/>
      </dsp:nvSpPr>
      <dsp:spPr>
        <a:xfrm>
          <a:off x="692764" y="751152"/>
          <a:ext cx="4488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GB" sz="1500" kern="1200" dirty="0"/>
            <a:t>Develop MUI based components</a:t>
          </a:r>
          <a:endParaRPr lang="en-US" sz="1500" kern="1200" dirty="0"/>
        </a:p>
      </dsp:txBody>
      <dsp:txXfrm>
        <a:off x="692764" y="751152"/>
        <a:ext cx="4488835" cy="599796"/>
      </dsp:txXfrm>
    </dsp:sp>
    <dsp:sp modelId="{6C9E8ECA-5E0E-4B37-A6E2-976EDF9800DA}">
      <dsp:nvSpPr>
        <dsp:cNvPr id="0" name=""/>
        <dsp:cNvSpPr/>
      </dsp:nvSpPr>
      <dsp:spPr>
        <a:xfrm>
          <a:off x="0" y="1500898"/>
          <a:ext cx="5181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B520A67-BBD3-4D45-8EEC-31EF34E00D06}">
      <dsp:nvSpPr>
        <dsp:cNvPr id="0" name=""/>
        <dsp:cNvSpPr/>
      </dsp:nvSpPr>
      <dsp:spPr>
        <a:xfrm>
          <a:off x="181438" y="1635852"/>
          <a:ext cx="329887" cy="329887"/>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D8107A9-E711-4552-9D2E-10E27EC44501}">
      <dsp:nvSpPr>
        <dsp:cNvPr id="0" name=""/>
        <dsp:cNvSpPr/>
      </dsp:nvSpPr>
      <dsp:spPr>
        <a:xfrm>
          <a:off x="692764" y="1500898"/>
          <a:ext cx="4488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GB" sz="1500" kern="1200"/>
            <a:t>Migrate the current document form as it is</a:t>
          </a:r>
          <a:endParaRPr lang="en-US" sz="1500" kern="1200"/>
        </a:p>
      </dsp:txBody>
      <dsp:txXfrm>
        <a:off x="692764" y="1500898"/>
        <a:ext cx="4488835" cy="599796"/>
      </dsp:txXfrm>
    </dsp:sp>
    <dsp:sp modelId="{8F1A227F-E9F3-4054-82D5-DEEA89DB17D7}">
      <dsp:nvSpPr>
        <dsp:cNvPr id="0" name=""/>
        <dsp:cNvSpPr/>
      </dsp:nvSpPr>
      <dsp:spPr>
        <a:xfrm>
          <a:off x="0" y="2250643"/>
          <a:ext cx="5181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25F4468-8482-45B9-8985-E97D6F14BE10}">
      <dsp:nvSpPr>
        <dsp:cNvPr id="0" name=""/>
        <dsp:cNvSpPr/>
      </dsp:nvSpPr>
      <dsp:spPr>
        <a:xfrm>
          <a:off x="181438" y="2385597"/>
          <a:ext cx="329887" cy="329887"/>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632F8431-2680-4086-988E-56267F3D8B76}">
      <dsp:nvSpPr>
        <dsp:cNvPr id="0" name=""/>
        <dsp:cNvSpPr/>
      </dsp:nvSpPr>
      <dsp:spPr>
        <a:xfrm>
          <a:off x="692764" y="2250643"/>
          <a:ext cx="4488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GB" sz="1500" kern="1200" dirty="0"/>
            <a:t>Identify reusable form components for other documents</a:t>
          </a:r>
          <a:endParaRPr lang="en-US" sz="1500" kern="1200" dirty="0"/>
        </a:p>
      </dsp:txBody>
      <dsp:txXfrm>
        <a:off x="692764" y="2250643"/>
        <a:ext cx="4488835" cy="599796"/>
      </dsp:txXfrm>
    </dsp:sp>
    <dsp:sp modelId="{70C77ADD-601B-48B6-B3E9-58ED7380FC05}">
      <dsp:nvSpPr>
        <dsp:cNvPr id="0" name=""/>
        <dsp:cNvSpPr/>
      </dsp:nvSpPr>
      <dsp:spPr>
        <a:xfrm>
          <a:off x="0" y="3000388"/>
          <a:ext cx="5181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D1F575E-66A0-4D04-8B30-0B543D2E4506}">
      <dsp:nvSpPr>
        <dsp:cNvPr id="0" name=""/>
        <dsp:cNvSpPr/>
      </dsp:nvSpPr>
      <dsp:spPr>
        <a:xfrm>
          <a:off x="181438" y="3135342"/>
          <a:ext cx="329887" cy="329887"/>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B0400FB-F8CE-474A-9021-4215BEFEDBA8}">
      <dsp:nvSpPr>
        <dsp:cNvPr id="0" name=""/>
        <dsp:cNvSpPr/>
      </dsp:nvSpPr>
      <dsp:spPr>
        <a:xfrm>
          <a:off x="692764" y="3000388"/>
          <a:ext cx="4488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GB" sz="1500" kern="1200"/>
            <a:t>Generalize those components from the migrated form</a:t>
          </a:r>
          <a:endParaRPr lang="en-US" sz="1500" kern="1200"/>
        </a:p>
      </dsp:txBody>
      <dsp:txXfrm>
        <a:off x="692764" y="3000388"/>
        <a:ext cx="4488835" cy="599796"/>
      </dsp:txXfrm>
    </dsp:sp>
    <dsp:sp modelId="{93DA1B77-93FC-4EFB-8A79-824295CDC3A8}">
      <dsp:nvSpPr>
        <dsp:cNvPr id="0" name=""/>
        <dsp:cNvSpPr/>
      </dsp:nvSpPr>
      <dsp:spPr>
        <a:xfrm>
          <a:off x="0" y="3750134"/>
          <a:ext cx="5181600" cy="599796"/>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AA71D98-D313-4672-BE75-FBD90DB6BF7B}">
      <dsp:nvSpPr>
        <dsp:cNvPr id="0" name=""/>
        <dsp:cNvSpPr/>
      </dsp:nvSpPr>
      <dsp:spPr>
        <a:xfrm>
          <a:off x="181438" y="3885088"/>
          <a:ext cx="329887" cy="329887"/>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A2C990D-BC9E-497C-95B7-56C18EEE2AF5}">
      <dsp:nvSpPr>
        <dsp:cNvPr id="0" name=""/>
        <dsp:cNvSpPr/>
      </dsp:nvSpPr>
      <dsp:spPr>
        <a:xfrm>
          <a:off x="692764" y="3750134"/>
          <a:ext cx="4488835" cy="59979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63478" tIns="63478" rIns="63478" bIns="63478" numCol="1" spcCol="1270" anchor="ctr" anchorCtr="0">
          <a:noAutofit/>
        </a:bodyPr>
        <a:lstStyle/>
        <a:p>
          <a:pPr marL="0" lvl="0" indent="0" algn="l" defTabSz="666750">
            <a:lnSpc>
              <a:spcPct val="100000"/>
            </a:lnSpc>
            <a:spcBef>
              <a:spcPct val="0"/>
            </a:spcBef>
            <a:spcAft>
              <a:spcPct val="35000"/>
            </a:spcAft>
            <a:buNone/>
          </a:pPr>
          <a:r>
            <a:rPr lang="en-GB" sz="1500" kern="1200"/>
            <a:t>Share through Storybook</a:t>
          </a:r>
          <a:endParaRPr lang="en-US" sz="1500" kern="1200"/>
        </a:p>
      </dsp:txBody>
      <dsp:txXfrm>
        <a:off x="692764" y="3750134"/>
        <a:ext cx="4488835" cy="5997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7DF93C-CD64-4567-AFC7-ADA971FA9546}">
      <dsp:nvSpPr>
        <dsp:cNvPr id="0" name=""/>
        <dsp:cNvSpPr/>
      </dsp:nvSpPr>
      <dsp:spPr>
        <a:xfrm>
          <a:off x="0" y="0"/>
          <a:ext cx="2531191" cy="6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Improved User Experience</a:t>
          </a:r>
          <a:endParaRPr lang="en-US" sz="1800" kern="1200"/>
        </a:p>
      </dsp:txBody>
      <dsp:txXfrm>
        <a:off x="0" y="0"/>
        <a:ext cx="2531191" cy="631859"/>
      </dsp:txXfrm>
    </dsp:sp>
    <dsp:sp modelId="{4EC86A8C-EE5B-4E7C-8559-5B03A65D02B0}">
      <dsp:nvSpPr>
        <dsp:cNvPr id="0" name=""/>
        <dsp:cNvSpPr/>
      </dsp:nvSpPr>
      <dsp:spPr>
        <a:xfrm>
          <a:off x="0" y="631859"/>
          <a:ext cx="2531191" cy="1875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Migrating to a modern React application enhances the user interface, making it more intuitive and engaging for users.</a:t>
          </a:r>
          <a:endParaRPr lang="en-US" sz="1400" kern="1200"/>
        </a:p>
      </dsp:txBody>
      <dsp:txXfrm>
        <a:off x="0" y="631859"/>
        <a:ext cx="2531191" cy="1875755"/>
      </dsp:txXfrm>
    </dsp:sp>
    <dsp:sp modelId="{E424072E-9861-486A-AE81-F4D8543D6D64}">
      <dsp:nvSpPr>
        <dsp:cNvPr id="0" name=""/>
        <dsp:cNvSpPr/>
      </dsp:nvSpPr>
      <dsp:spPr>
        <a:xfrm>
          <a:off x="2784310" y="0"/>
          <a:ext cx="2531191" cy="6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Faster Development Speed</a:t>
          </a:r>
          <a:endParaRPr lang="en-US" sz="1800" kern="1200"/>
        </a:p>
      </dsp:txBody>
      <dsp:txXfrm>
        <a:off x="2784310" y="0"/>
        <a:ext cx="2531191" cy="631859"/>
      </dsp:txXfrm>
    </dsp:sp>
    <dsp:sp modelId="{3C0099A2-E6BF-4104-B1CD-4E2FC12327A9}">
      <dsp:nvSpPr>
        <dsp:cNvPr id="0" name=""/>
        <dsp:cNvSpPr/>
      </dsp:nvSpPr>
      <dsp:spPr>
        <a:xfrm>
          <a:off x="2784310" y="631859"/>
          <a:ext cx="2531191" cy="1875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React's component-based architecture allows for quicker development cycles, enabling teams to deliver features faster.</a:t>
          </a:r>
          <a:endParaRPr lang="en-US" sz="1400" kern="1200"/>
        </a:p>
      </dsp:txBody>
      <dsp:txXfrm>
        <a:off x="2784310" y="631859"/>
        <a:ext cx="2531191" cy="1875755"/>
      </dsp:txXfrm>
    </dsp:sp>
    <dsp:sp modelId="{AD300456-E61B-4561-82EC-B4D252EF00FC}">
      <dsp:nvSpPr>
        <dsp:cNvPr id="0" name=""/>
        <dsp:cNvSpPr/>
      </dsp:nvSpPr>
      <dsp:spPr>
        <a:xfrm>
          <a:off x="5568620" y="0"/>
          <a:ext cx="2531191" cy="6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Enhanced Maintainability</a:t>
          </a:r>
          <a:endParaRPr lang="en-US" sz="1800" kern="1200"/>
        </a:p>
      </dsp:txBody>
      <dsp:txXfrm>
        <a:off x="5568620" y="0"/>
        <a:ext cx="2531191" cy="631859"/>
      </dsp:txXfrm>
    </dsp:sp>
    <dsp:sp modelId="{734565EA-2698-4AB9-8069-B0A2D7FDD54A}">
      <dsp:nvSpPr>
        <dsp:cNvPr id="0" name=""/>
        <dsp:cNvSpPr/>
      </dsp:nvSpPr>
      <dsp:spPr>
        <a:xfrm>
          <a:off x="5568620" y="631859"/>
          <a:ext cx="2531191" cy="1875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Transitioning to React improves code maintainability, making it easier to manage and update the application over time.</a:t>
          </a:r>
          <a:endParaRPr lang="en-US" sz="1400" kern="1200"/>
        </a:p>
      </dsp:txBody>
      <dsp:txXfrm>
        <a:off x="5568620" y="631859"/>
        <a:ext cx="2531191" cy="1875755"/>
      </dsp:txXfrm>
    </dsp:sp>
    <dsp:sp modelId="{BF7E22CF-7389-497B-A47E-FCB0833DF3E2}">
      <dsp:nvSpPr>
        <dsp:cNvPr id="0" name=""/>
        <dsp:cNvSpPr/>
      </dsp:nvSpPr>
      <dsp:spPr>
        <a:xfrm>
          <a:off x="8352931" y="0"/>
          <a:ext cx="2531191" cy="63185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GB" sz="1800" kern="1200"/>
            <a:t>Staying Competitive</a:t>
          </a:r>
          <a:endParaRPr lang="en-US" sz="1800" kern="1200"/>
        </a:p>
      </dsp:txBody>
      <dsp:txXfrm>
        <a:off x="8352931" y="0"/>
        <a:ext cx="2531191" cy="631859"/>
      </dsp:txXfrm>
    </dsp:sp>
    <dsp:sp modelId="{A6E82152-DADE-4BA7-9480-E86466B4CDD8}">
      <dsp:nvSpPr>
        <dsp:cNvPr id="0" name=""/>
        <dsp:cNvSpPr/>
      </dsp:nvSpPr>
      <dsp:spPr>
        <a:xfrm>
          <a:off x="8352931" y="631859"/>
          <a:ext cx="2531191" cy="18757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GB" sz="1400" kern="1200"/>
            <a:t>Adopting modern technologies like React is crucial for businesses to remain competitive in a rapidly evolving digital landscape.</a:t>
          </a:r>
          <a:endParaRPr lang="en-US" sz="1400" kern="1200"/>
        </a:p>
      </dsp:txBody>
      <dsp:txXfrm>
        <a:off x="8352931" y="631859"/>
        <a:ext cx="2531191" cy="1875755"/>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4FCEE6-9A9B-43AE-8169-87200A4F9153}" type="datetimeFigureOut">
              <a:rPr lang="en-CH" smtClean="0"/>
              <a:t>30/04/2025</a:t>
            </a:fld>
            <a:endParaRPr lang="en-C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C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3B95253-83F1-4E5F-AA5D-47AC24E72ED6}" type="slidenum">
              <a:rPr lang="en-CH" smtClean="0"/>
              <a:t>‹#›</a:t>
            </a:fld>
            <a:endParaRPr lang="en-CH"/>
          </a:p>
        </p:txBody>
      </p:sp>
    </p:spTree>
    <p:extLst>
      <p:ext uri="{BB962C8B-B14F-4D97-AF65-F5344CB8AC3E}">
        <p14:creationId xmlns:p14="http://schemas.microsoft.com/office/powerpoint/2010/main" val="20939628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dirty="0"/>
              <a:t>This presentation will explore the process of migrating a legacy JSP front-end to a modern single-page application using React. We'll discuss the benefits of React, core concepts, key considerations for migration, the migration path, practical implementation, and the final benefits of this transition.
</a:t>
            </a:r>
          </a:p>
        </p:txBody>
      </p:sp>
      <p:sp>
        <p:nvSpPr>
          <p:cNvPr id="4" name="Slide Number Placeholder 3"/>
          <p:cNvSpPr>
            <a:spLocks noGrp="1"/>
          </p:cNvSpPr>
          <p:nvPr>
            <p:ph type="sldNum" sz="quarter" idx="5"/>
          </p:nvPr>
        </p:nvSpPr>
        <p:spPr/>
        <p:txBody>
          <a:bodyPr/>
          <a:lstStyle/>
          <a:p>
            <a:fld id="{D0D7085E-C9F6-4764-AF56-D1C767855C27}" type="slidenum">
              <a:rPr lang="en-CH" smtClean="0"/>
              <a:t>1</a:t>
            </a:fld>
            <a:endParaRPr lang="en-CH"/>
          </a:p>
        </p:txBody>
      </p:sp>
    </p:spTree>
    <p:extLst>
      <p:ext uri="{BB962C8B-B14F-4D97-AF65-F5344CB8AC3E}">
        <p14:creationId xmlns:p14="http://schemas.microsoft.com/office/powerpoint/2010/main" val="25700650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As a Technical Team Lead at CERN, I oversee the development and maintenance of essential libraries for our electronic document handling system. My role as a Product Owner involves ensuring that our RBAC system is robust and efficient. I am committed to enhancing system performance and collaboration within my team.</a:t>
            </a:r>
          </a:p>
        </p:txBody>
      </p:sp>
      <p:sp>
        <p:nvSpPr>
          <p:cNvPr id="4" name="Slide Number Placeholder 3"/>
          <p:cNvSpPr>
            <a:spLocks noGrp="1"/>
          </p:cNvSpPr>
          <p:nvPr>
            <p:ph type="sldNum" sz="quarter" idx="5"/>
          </p:nvPr>
        </p:nvSpPr>
        <p:spPr/>
        <p:txBody>
          <a:bodyPr/>
          <a:lstStyle/>
          <a:p>
            <a:fld id="{23B95253-83F1-4E5F-AA5D-47AC24E72ED6}" type="slidenum">
              <a:rPr lang="en-CH" smtClean="0"/>
              <a:t>2</a:t>
            </a:fld>
            <a:endParaRPr lang="en-CH"/>
          </a:p>
        </p:txBody>
      </p:sp>
    </p:spTree>
    <p:extLst>
      <p:ext uri="{BB962C8B-B14F-4D97-AF65-F5344CB8AC3E}">
        <p14:creationId xmlns:p14="http://schemas.microsoft.com/office/powerpoint/2010/main" val="4247840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In this presentation, we'll cover the advantages of React compared to JSP, core React concepts, important factors to consider during migration, a step-by-step migration path, practical code examples, and the long-term benefits of migrating to React.</a:t>
            </a:r>
          </a:p>
        </p:txBody>
      </p:sp>
      <p:sp>
        <p:nvSpPr>
          <p:cNvPr id="4" name="Slide Number Placeholder 3"/>
          <p:cNvSpPr>
            <a:spLocks noGrp="1"/>
          </p:cNvSpPr>
          <p:nvPr>
            <p:ph type="sldNum" sz="quarter" idx="5"/>
          </p:nvPr>
        </p:nvSpPr>
        <p:spPr/>
        <p:txBody>
          <a:bodyPr/>
          <a:lstStyle/>
          <a:p>
            <a:fld id="{D0D7085E-C9F6-4764-AF56-D1C767855C27}" type="slidenum">
              <a:rPr lang="en-CH" smtClean="0"/>
              <a:t>4</a:t>
            </a:fld>
            <a:endParaRPr lang="en-CH"/>
          </a:p>
        </p:txBody>
      </p:sp>
    </p:spTree>
    <p:extLst>
      <p:ext uri="{BB962C8B-B14F-4D97-AF65-F5344CB8AC3E}">
        <p14:creationId xmlns:p14="http://schemas.microsoft.com/office/powerpoint/2010/main" val="1575623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React is a popular JavaScript library used for building user interfaces, especially single-page applications. It allows developers to create dynamic and responsive web applications with ease.</a:t>
            </a:r>
          </a:p>
        </p:txBody>
      </p:sp>
      <p:sp>
        <p:nvSpPr>
          <p:cNvPr id="4" name="Slide Number Placeholder 3"/>
          <p:cNvSpPr>
            <a:spLocks noGrp="1"/>
          </p:cNvSpPr>
          <p:nvPr>
            <p:ph type="sldNum" sz="quarter" idx="5"/>
          </p:nvPr>
        </p:nvSpPr>
        <p:spPr/>
        <p:txBody>
          <a:bodyPr/>
          <a:lstStyle/>
          <a:p>
            <a:fld id="{D0D7085E-C9F6-4764-AF56-D1C767855C27}" type="slidenum">
              <a:rPr lang="en-CH" smtClean="0"/>
              <a:t>6</a:t>
            </a:fld>
            <a:endParaRPr lang="en-CH"/>
          </a:p>
        </p:txBody>
      </p:sp>
    </p:spTree>
    <p:extLst>
      <p:ext uri="{BB962C8B-B14F-4D97-AF65-F5344CB8AC3E}">
        <p14:creationId xmlns:p14="http://schemas.microsoft.com/office/powerpoint/2010/main" val="132553872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React is an open-source JavaScript library developed by Facebook for creating interactive user interfaces. It enables developers to build web applications using reusable components, making development more efficient. React's virtual DOM improves performance by minimizing direct updates to the actual DOM, allowing for smooth user experiences. It's ideal for single-page applications where responsiveness is crucial.</a:t>
            </a:r>
          </a:p>
        </p:txBody>
      </p:sp>
      <p:sp>
        <p:nvSpPr>
          <p:cNvPr id="4" name="Slide Number Placeholder 3"/>
          <p:cNvSpPr>
            <a:spLocks noGrp="1"/>
          </p:cNvSpPr>
          <p:nvPr>
            <p:ph type="sldNum" sz="quarter" idx="5"/>
          </p:nvPr>
        </p:nvSpPr>
        <p:spPr/>
        <p:txBody>
          <a:bodyPr/>
          <a:lstStyle/>
          <a:p>
            <a:fld id="{23B95253-83F1-4E5F-AA5D-47AC24E72ED6}" type="slidenum">
              <a:rPr lang="en-CH" smtClean="0"/>
              <a:t>7</a:t>
            </a:fld>
            <a:endParaRPr lang="en-CH"/>
          </a:p>
        </p:txBody>
      </p:sp>
    </p:spTree>
    <p:extLst>
      <p:ext uri="{BB962C8B-B14F-4D97-AF65-F5344CB8AC3E}">
        <p14:creationId xmlns:p14="http://schemas.microsoft.com/office/powerpoint/2010/main" val="26617453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React was developed by Facebook and has gained immense popularity due to its declarative nature and component-based architecture. It simplifies the process of building complex UIs by breaking them down into manageable components.</a:t>
            </a:r>
          </a:p>
        </p:txBody>
      </p:sp>
      <p:sp>
        <p:nvSpPr>
          <p:cNvPr id="4" name="Slide Number Placeholder 3"/>
          <p:cNvSpPr>
            <a:spLocks noGrp="1"/>
          </p:cNvSpPr>
          <p:nvPr>
            <p:ph type="sldNum" sz="quarter" idx="5"/>
          </p:nvPr>
        </p:nvSpPr>
        <p:spPr/>
        <p:txBody>
          <a:bodyPr/>
          <a:lstStyle/>
          <a:p>
            <a:fld id="{D0D7085E-C9F6-4764-AF56-D1C767855C27}" type="slidenum">
              <a:rPr lang="en-CH" smtClean="0"/>
              <a:t>8</a:t>
            </a:fld>
            <a:endParaRPr lang="en-CH"/>
          </a:p>
        </p:txBody>
      </p:sp>
    </p:spTree>
    <p:extLst>
      <p:ext uri="{BB962C8B-B14F-4D97-AF65-F5344CB8AC3E}">
        <p14:creationId xmlns:p14="http://schemas.microsoft.com/office/powerpoint/2010/main" val="2556356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JavaServer Pages (JSP) is a technology that simplifies the creation of dynamic web content by allowing Java code to be embedded in HTML. This approach enhances interactivity and supports the integration of JavaBeans, promoting a component-based architecture. Additionally, JSP allows for the use of custom tags and libraries, which enhance application functionality. When combined with servlets, JSP provides a robust framework for developing powerful web applications.</a:t>
            </a:r>
          </a:p>
        </p:txBody>
      </p:sp>
      <p:sp>
        <p:nvSpPr>
          <p:cNvPr id="4" name="Slide Number Placeholder 3"/>
          <p:cNvSpPr>
            <a:spLocks noGrp="1"/>
          </p:cNvSpPr>
          <p:nvPr>
            <p:ph type="sldNum" sz="quarter" idx="5"/>
          </p:nvPr>
        </p:nvSpPr>
        <p:spPr/>
        <p:txBody>
          <a:bodyPr/>
          <a:lstStyle/>
          <a:p>
            <a:fld id="{23B95253-83F1-4E5F-AA5D-47AC24E72ED6}" type="slidenum">
              <a:rPr lang="en-CH" smtClean="0"/>
              <a:t>9</a:t>
            </a:fld>
            <a:endParaRPr lang="en-CH"/>
          </a:p>
        </p:txBody>
      </p:sp>
    </p:spTree>
    <p:extLst>
      <p:ext uri="{BB962C8B-B14F-4D97-AF65-F5344CB8AC3E}">
        <p14:creationId xmlns:p14="http://schemas.microsoft.com/office/powerpoint/2010/main" val="19582756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React offers significant advantages over static HTML and JSP templates, including reusability of components, ease of state management, and a more interactive user experience. This leads to faster development cycles and improved maintainability.</a:t>
            </a:r>
          </a:p>
        </p:txBody>
      </p:sp>
      <p:sp>
        <p:nvSpPr>
          <p:cNvPr id="4" name="Slide Number Placeholder 3"/>
          <p:cNvSpPr>
            <a:spLocks noGrp="1"/>
          </p:cNvSpPr>
          <p:nvPr>
            <p:ph type="sldNum" sz="quarter" idx="5"/>
          </p:nvPr>
        </p:nvSpPr>
        <p:spPr/>
        <p:txBody>
          <a:bodyPr/>
          <a:lstStyle/>
          <a:p>
            <a:fld id="{D0D7085E-C9F6-4764-AF56-D1C767855C27}" type="slidenum">
              <a:rPr lang="en-CH" smtClean="0"/>
              <a:t>10</a:t>
            </a:fld>
            <a:endParaRPr lang="en-CH"/>
          </a:p>
        </p:txBody>
      </p:sp>
    </p:spTree>
    <p:extLst>
      <p:ext uri="{BB962C8B-B14F-4D97-AF65-F5344CB8AC3E}">
        <p14:creationId xmlns:p14="http://schemas.microsoft.com/office/powerpoint/2010/main" val="152089251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Understanding React's core concepts is crucial for successful development. This section will focus on components, state management, and the lifecycle of components.</a:t>
            </a:r>
          </a:p>
        </p:txBody>
      </p:sp>
      <p:sp>
        <p:nvSpPr>
          <p:cNvPr id="4" name="Slide Number Placeholder 3"/>
          <p:cNvSpPr>
            <a:spLocks noGrp="1"/>
          </p:cNvSpPr>
          <p:nvPr>
            <p:ph type="sldNum" sz="quarter" idx="5"/>
          </p:nvPr>
        </p:nvSpPr>
        <p:spPr/>
        <p:txBody>
          <a:bodyPr/>
          <a:lstStyle/>
          <a:p>
            <a:fld id="{D0D7085E-C9F6-4764-AF56-D1C767855C27}" type="slidenum">
              <a:rPr lang="en-CH" smtClean="0"/>
              <a:t>11</a:t>
            </a:fld>
            <a:endParaRPr lang="en-CH"/>
          </a:p>
        </p:txBody>
      </p:sp>
    </p:spTree>
    <p:extLst>
      <p:ext uri="{BB962C8B-B14F-4D97-AF65-F5344CB8AC3E}">
        <p14:creationId xmlns:p14="http://schemas.microsoft.com/office/powerpoint/2010/main" val="9737948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Components are the building blocks of React applications. JSX allows developers to write HTML-like syntax within JavaScript, making it easier to visualize the UI structure and create components quickly.</a:t>
            </a:r>
          </a:p>
        </p:txBody>
      </p:sp>
      <p:sp>
        <p:nvSpPr>
          <p:cNvPr id="4" name="Slide Number Placeholder 3"/>
          <p:cNvSpPr>
            <a:spLocks noGrp="1"/>
          </p:cNvSpPr>
          <p:nvPr>
            <p:ph type="sldNum" sz="quarter" idx="5"/>
          </p:nvPr>
        </p:nvSpPr>
        <p:spPr/>
        <p:txBody>
          <a:bodyPr/>
          <a:lstStyle/>
          <a:p>
            <a:fld id="{D0D7085E-C9F6-4764-AF56-D1C767855C27}" type="slidenum">
              <a:rPr lang="en-CH" smtClean="0"/>
              <a:t>12</a:t>
            </a:fld>
            <a:endParaRPr lang="en-CH"/>
          </a:p>
        </p:txBody>
      </p:sp>
    </p:spTree>
    <p:extLst>
      <p:ext uri="{BB962C8B-B14F-4D97-AF65-F5344CB8AC3E}">
        <p14:creationId xmlns:p14="http://schemas.microsoft.com/office/powerpoint/2010/main" val="104328809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State and props are essential concepts in React. State allows components to manage their own data, while props enable component communication by passing data from parent to child components.</a:t>
            </a:r>
          </a:p>
        </p:txBody>
      </p:sp>
      <p:sp>
        <p:nvSpPr>
          <p:cNvPr id="4" name="Slide Number Placeholder 3"/>
          <p:cNvSpPr>
            <a:spLocks noGrp="1"/>
          </p:cNvSpPr>
          <p:nvPr>
            <p:ph type="sldNum" sz="quarter" idx="5"/>
          </p:nvPr>
        </p:nvSpPr>
        <p:spPr/>
        <p:txBody>
          <a:bodyPr/>
          <a:lstStyle/>
          <a:p>
            <a:fld id="{D0D7085E-C9F6-4764-AF56-D1C767855C27}" type="slidenum">
              <a:rPr lang="en-CH" smtClean="0"/>
              <a:t>13</a:t>
            </a:fld>
            <a:endParaRPr lang="en-CH"/>
          </a:p>
        </p:txBody>
      </p:sp>
    </p:spTree>
    <p:extLst>
      <p:ext uri="{BB962C8B-B14F-4D97-AF65-F5344CB8AC3E}">
        <p14:creationId xmlns:p14="http://schemas.microsoft.com/office/powerpoint/2010/main" val="6979306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Lifecycle methods are functions that allow developers to hook into different stages of a component's lifecycle. Hooks, such as useState and useEffect, provide a simpler way to manage state and side effects in functional components.</a:t>
            </a:r>
          </a:p>
        </p:txBody>
      </p:sp>
      <p:sp>
        <p:nvSpPr>
          <p:cNvPr id="4" name="Slide Number Placeholder 3"/>
          <p:cNvSpPr>
            <a:spLocks noGrp="1"/>
          </p:cNvSpPr>
          <p:nvPr>
            <p:ph type="sldNum" sz="quarter" idx="5"/>
          </p:nvPr>
        </p:nvSpPr>
        <p:spPr/>
        <p:txBody>
          <a:bodyPr/>
          <a:lstStyle/>
          <a:p>
            <a:fld id="{D0D7085E-C9F6-4764-AF56-D1C767855C27}" type="slidenum">
              <a:rPr lang="en-CH" smtClean="0"/>
              <a:t>14</a:t>
            </a:fld>
            <a:endParaRPr lang="en-CH"/>
          </a:p>
        </p:txBody>
      </p:sp>
    </p:spTree>
    <p:extLst>
      <p:ext uri="{BB962C8B-B14F-4D97-AF65-F5344CB8AC3E}">
        <p14:creationId xmlns:p14="http://schemas.microsoft.com/office/powerpoint/2010/main" val="125441697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Migrating from JSP to React requires careful planning. This section will address critical considerations, including assessing the existing application architecture and identifying reusable components.</a:t>
            </a:r>
          </a:p>
        </p:txBody>
      </p:sp>
      <p:sp>
        <p:nvSpPr>
          <p:cNvPr id="4" name="Slide Number Placeholder 3"/>
          <p:cNvSpPr>
            <a:spLocks noGrp="1"/>
          </p:cNvSpPr>
          <p:nvPr>
            <p:ph type="sldNum" sz="quarter" idx="5"/>
          </p:nvPr>
        </p:nvSpPr>
        <p:spPr/>
        <p:txBody>
          <a:bodyPr/>
          <a:lstStyle/>
          <a:p>
            <a:fld id="{D0D7085E-C9F6-4764-AF56-D1C767855C27}" type="slidenum">
              <a:rPr lang="en-CH" smtClean="0"/>
              <a:t>15</a:t>
            </a:fld>
            <a:endParaRPr lang="en-CH"/>
          </a:p>
        </p:txBody>
      </p:sp>
    </p:spTree>
    <p:extLst>
      <p:ext uri="{BB962C8B-B14F-4D97-AF65-F5344CB8AC3E}">
        <p14:creationId xmlns:p14="http://schemas.microsoft.com/office/powerpoint/2010/main" val="3008675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Begin by analysing the current JSP application to understand its structure, functionality, and dependencies. This will help identify which parts of the application can be migrated to React.</a:t>
            </a:r>
          </a:p>
        </p:txBody>
      </p:sp>
      <p:sp>
        <p:nvSpPr>
          <p:cNvPr id="4" name="Slide Number Placeholder 3"/>
          <p:cNvSpPr>
            <a:spLocks noGrp="1"/>
          </p:cNvSpPr>
          <p:nvPr>
            <p:ph type="sldNum" sz="quarter" idx="5"/>
          </p:nvPr>
        </p:nvSpPr>
        <p:spPr/>
        <p:txBody>
          <a:bodyPr/>
          <a:lstStyle/>
          <a:p>
            <a:fld id="{D0D7085E-C9F6-4764-AF56-D1C767855C27}" type="slidenum">
              <a:rPr lang="en-CH" smtClean="0"/>
              <a:t>16</a:t>
            </a:fld>
            <a:endParaRPr lang="en-CH"/>
          </a:p>
        </p:txBody>
      </p:sp>
    </p:spTree>
    <p:extLst>
      <p:ext uri="{BB962C8B-B14F-4D97-AF65-F5344CB8AC3E}">
        <p14:creationId xmlns:p14="http://schemas.microsoft.com/office/powerpoint/2010/main" val="4971611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Identify components within the JSP application that can be reused in the React application. This not only saves time but also enhances the consistency of the user interface.</a:t>
            </a:r>
          </a:p>
        </p:txBody>
      </p:sp>
      <p:sp>
        <p:nvSpPr>
          <p:cNvPr id="4" name="Slide Number Placeholder 3"/>
          <p:cNvSpPr>
            <a:spLocks noGrp="1"/>
          </p:cNvSpPr>
          <p:nvPr>
            <p:ph type="sldNum" sz="quarter" idx="5"/>
          </p:nvPr>
        </p:nvSpPr>
        <p:spPr/>
        <p:txBody>
          <a:bodyPr/>
          <a:lstStyle/>
          <a:p>
            <a:fld id="{D0D7085E-C9F6-4764-AF56-D1C767855C27}" type="slidenum">
              <a:rPr lang="en-CH" smtClean="0"/>
              <a:t>19</a:t>
            </a:fld>
            <a:endParaRPr lang="en-CH"/>
          </a:p>
        </p:txBody>
      </p:sp>
    </p:spTree>
    <p:extLst>
      <p:ext uri="{BB962C8B-B14F-4D97-AF65-F5344CB8AC3E}">
        <p14:creationId xmlns:p14="http://schemas.microsoft.com/office/powerpoint/2010/main" val="39826278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MUI components are designed for React applications, adhering to Material Design principles. This ensures a cohesive and attractive user interface. By utilizing these pre-built components, developers can significantly speed up the development process and enhance efficiency in creating responsive and modern web applications.</a:t>
            </a:r>
          </a:p>
        </p:txBody>
      </p:sp>
      <p:sp>
        <p:nvSpPr>
          <p:cNvPr id="4" name="Slide Number Placeholder 3"/>
          <p:cNvSpPr>
            <a:spLocks noGrp="1"/>
          </p:cNvSpPr>
          <p:nvPr>
            <p:ph type="sldNum" sz="quarter" idx="5"/>
          </p:nvPr>
        </p:nvSpPr>
        <p:spPr/>
        <p:txBody>
          <a:bodyPr/>
          <a:lstStyle/>
          <a:p>
            <a:fld id="{23B95253-83F1-4E5F-AA5D-47AC24E72ED6}" type="slidenum">
              <a:rPr lang="en-CH" smtClean="0"/>
              <a:t>22</a:t>
            </a:fld>
            <a:endParaRPr lang="en-CH"/>
          </a:p>
        </p:txBody>
      </p:sp>
    </p:spTree>
    <p:extLst>
      <p:ext uri="{BB962C8B-B14F-4D97-AF65-F5344CB8AC3E}">
        <p14:creationId xmlns:p14="http://schemas.microsoft.com/office/powerpoint/2010/main" val="18918389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Material Design principles aim to create a unified experience across different devices and platforms. This design philosophy emphasizes using shadows and depth to guide users' attention, improving the interface's organization and usability. Additionally, responsive animations enhance the overall user experience, making interactions feel fluid and natural. Accessibility is also a key focus, ensuring that designs cater to diverse users.</a:t>
            </a:r>
          </a:p>
        </p:txBody>
      </p:sp>
      <p:sp>
        <p:nvSpPr>
          <p:cNvPr id="4" name="Slide Number Placeholder 3"/>
          <p:cNvSpPr>
            <a:spLocks noGrp="1"/>
          </p:cNvSpPr>
          <p:nvPr>
            <p:ph type="sldNum" sz="quarter" idx="5"/>
          </p:nvPr>
        </p:nvSpPr>
        <p:spPr/>
        <p:txBody>
          <a:bodyPr/>
          <a:lstStyle/>
          <a:p>
            <a:fld id="{23B95253-83F1-4E5F-AA5D-47AC24E72ED6}" type="slidenum">
              <a:rPr lang="en-CH" smtClean="0"/>
              <a:t>23</a:t>
            </a:fld>
            <a:endParaRPr lang="en-CH"/>
          </a:p>
        </p:txBody>
      </p:sp>
    </p:spTree>
    <p:extLst>
      <p:ext uri="{BB962C8B-B14F-4D97-AF65-F5344CB8AC3E}">
        <p14:creationId xmlns:p14="http://schemas.microsoft.com/office/powerpoint/2010/main" val="38279184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Using MUI components boosts productivity as developers can leverage ready-to-use pieces of functionality, ensuring design consistency throughout the application. Additionally, MUI offers customizable themes, allowing businesses to maintain their brand identity while using these components, creating a seamless user experience.</a:t>
            </a:r>
          </a:p>
        </p:txBody>
      </p:sp>
      <p:sp>
        <p:nvSpPr>
          <p:cNvPr id="4" name="Slide Number Placeholder 3"/>
          <p:cNvSpPr>
            <a:spLocks noGrp="1"/>
          </p:cNvSpPr>
          <p:nvPr>
            <p:ph type="sldNum" sz="quarter" idx="5"/>
          </p:nvPr>
        </p:nvSpPr>
        <p:spPr/>
        <p:txBody>
          <a:bodyPr/>
          <a:lstStyle/>
          <a:p>
            <a:fld id="{23B95253-83F1-4E5F-AA5D-47AC24E72ED6}" type="slidenum">
              <a:rPr lang="en-CH" smtClean="0"/>
              <a:t>24</a:t>
            </a:fld>
            <a:endParaRPr lang="en-CH"/>
          </a:p>
        </p:txBody>
      </p:sp>
    </p:spTree>
    <p:extLst>
      <p:ext uri="{BB962C8B-B14F-4D97-AF65-F5344CB8AC3E}">
        <p14:creationId xmlns:p14="http://schemas.microsoft.com/office/powerpoint/2010/main" val="361960695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23B95253-83F1-4E5F-AA5D-47AC24E72ED6}" type="slidenum">
              <a:rPr lang="en-CH" smtClean="0"/>
              <a:t>25</a:t>
            </a:fld>
            <a:endParaRPr lang="en-CH"/>
          </a:p>
        </p:txBody>
      </p:sp>
    </p:spTree>
    <p:extLst>
      <p:ext uri="{BB962C8B-B14F-4D97-AF65-F5344CB8AC3E}">
        <p14:creationId xmlns:p14="http://schemas.microsoft.com/office/powerpoint/2010/main" val="5504085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The migration process from JSP to React can be approached incrementally. In this section, we will outline the steps necessary for a successful migration.</a:t>
            </a:r>
          </a:p>
        </p:txBody>
      </p:sp>
      <p:sp>
        <p:nvSpPr>
          <p:cNvPr id="4" name="Slide Number Placeholder 3"/>
          <p:cNvSpPr>
            <a:spLocks noGrp="1"/>
          </p:cNvSpPr>
          <p:nvPr>
            <p:ph type="sldNum" sz="quarter" idx="5"/>
          </p:nvPr>
        </p:nvSpPr>
        <p:spPr/>
        <p:txBody>
          <a:bodyPr/>
          <a:lstStyle/>
          <a:p>
            <a:fld id="{D0D7085E-C9F6-4764-AF56-D1C767855C27}" type="slidenum">
              <a:rPr lang="en-CH" smtClean="0"/>
              <a:t>27</a:t>
            </a:fld>
            <a:endParaRPr lang="en-CH"/>
          </a:p>
        </p:txBody>
      </p:sp>
    </p:spTree>
    <p:extLst>
      <p:ext uri="{BB962C8B-B14F-4D97-AF65-F5344CB8AC3E}">
        <p14:creationId xmlns:p14="http://schemas.microsoft.com/office/powerpoint/2010/main" val="4293286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Adopt a gradual approach by replacing JSP pages with React components incrementally. This allows for testing and validation without disrupting the entire application at once.</a:t>
            </a:r>
          </a:p>
        </p:txBody>
      </p:sp>
      <p:sp>
        <p:nvSpPr>
          <p:cNvPr id="4" name="Slide Number Placeholder 3"/>
          <p:cNvSpPr>
            <a:spLocks noGrp="1"/>
          </p:cNvSpPr>
          <p:nvPr>
            <p:ph type="sldNum" sz="quarter" idx="5"/>
          </p:nvPr>
        </p:nvSpPr>
        <p:spPr/>
        <p:txBody>
          <a:bodyPr/>
          <a:lstStyle/>
          <a:p>
            <a:fld id="{D0D7085E-C9F6-4764-AF56-D1C767855C27}" type="slidenum">
              <a:rPr lang="en-CH" smtClean="0"/>
              <a:t>28</a:t>
            </a:fld>
            <a:endParaRPr lang="en-CH"/>
          </a:p>
        </p:txBody>
      </p:sp>
    </p:spTree>
    <p:extLst>
      <p:ext uri="{BB962C8B-B14F-4D97-AF65-F5344CB8AC3E}">
        <p14:creationId xmlns:p14="http://schemas.microsoft.com/office/powerpoint/2010/main" val="1067187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During migration, it's essential to handle any legacy code with care and ensure compatibility between the old and new systems. This may include creating service layers or APIs for data access.</a:t>
            </a:r>
          </a:p>
        </p:txBody>
      </p:sp>
      <p:sp>
        <p:nvSpPr>
          <p:cNvPr id="4" name="Slide Number Placeholder 3"/>
          <p:cNvSpPr>
            <a:spLocks noGrp="1"/>
          </p:cNvSpPr>
          <p:nvPr>
            <p:ph type="sldNum" sz="quarter" idx="5"/>
          </p:nvPr>
        </p:nvSpPr>
        <p:spPr/>
        <p:txBody>
          <a:bodyPr/>
          <a:lstStyle/>
          <a:p>
            <a:fld id="{D0D7085E-C9F6-4764-AF56-D1C767855C27}" type="slidenum">
              <a:rPr lang="en-CH" smtClean="0"/>
              <a:t>29</a:t>
            </a:fld>
            <a:endParaRPr lang="en-CH"/>
          </a:p>
        </p:txBody>
      </p:sp>
    </p:spTree>
    <p:extLst>
      <p:ext uri="{BB962C8B-B14F-4D97-AF65-F5344CB8AC3E}">
        <p14:creationId xmlns:p14="http://schemas.microsoft.com/office/powerpoint/2010/main" val="42129876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This section will cover practical examples of converting JSP code to React, showcasing how to manage user input and integrate with existing backend services.</a:t>
            </a:r>
          </a:p>
        </p:txBody>
      </p:sp>
      <p:sp>
        <p:nvSpPr>
          <p:cNvPr id="4" name="Slide Number Placeholder 3"/>
          <p:cNvSpPr>
            <a:spLocks noGrp="1"/>
          </p:cNvSpPr>
          <p:nvPr>
            <p:ph type="sldNum" sz="quarter" idx="5"/>
          </p:nvPr>
        </p:nvSpPr>
        <p:spPr/>
        <p:txBody>
          <a:bodyPr/>
          <a:lstStyle/>
          <a:p>
            <a:fld id="{D0D7085E-C9F6-4764-AF56-D1C767855C27}" type="slidenum">
              <a:rPr lang="en-CH" smtClean="0"/>
              <a:t>30</a:t>
            </a:fld>
            <a:endParaRPr lang="en-CH"/>
          </a:p>
        </p:txBody>
      </p:sp>
    </p:spTree>
    <p:extLst>
      <p:ext uri="{BB962C8B-B14F-4D97-AF65-F5344CB8AC3E}">
        <p14:creationId xmlns:p14="http://schemas.microsoft.com/office/powerpoint/2010/main" val="2468587653"/>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Managing user input in React can be done using controlled components. We will cover how to implement forms in React and handle user input effectively.</a:t>
            </a:r>
          </a:p>
        </p:txBody>
      </p:sp>
      <p:sp>
        <p:nvSpPr>
          <p:cNvPr id="4" name="Slide Number Placeholder 3"/>
          <p:cNvSpPr>
            <a:spLocks noGrp="1"/>
          </p:cNvSpPr>
          <p:nvPr>
            <p:ph type="sldNum" sz="quarter" idx="5"/>
          </p:nvPr>
        </p:nvSpPr>
        <p:spPr/>
        <p:txBody>
          <a:bodyPr/>
          <a:lstStyle/>
          <a:p>
            <a:fld id="{D0D7085E-C9F6-4764-AF56-D1C767855C27}" type="slidenum">
              <a:rPr lang="en-CH" smtClean="0"/>
              <a:t>31</a:t>
            </a:fld>
            <a:endParaRPr lang="en-CH"/>
          </a:p>
        </p:txBody>
      </p:sp>
    </p:spTree>
    <p:extLst>
      <p:ext uri="{BB962C8B-B14F-4D97-AF65-F5344CB8AC3E}">
        <p14:creationId xmlns:p14="http://schemas.microsoft.com/office/powerpoint/2010/main" val="202426573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To ensure that the React application works seamlessly with existing backend services, we will discuss how to make API calls and handle data retrieval.</a:t>
            </a:r>
          </a:p>
        </p:txBody>
      </p:sp>
      <p:sp>
        <p:nvSpPr>
          <p:cNvPr id="4" name="Slide Number Placeholder 3"/>
          <p:cNvSpPr>
            <a:spLocks noGrp="1"/>
          </p:cNvSpPr>
          <p:nvPr>
            <p:ph type="sldNum" sz="quarter" idx="5"/>
          </p:nvPr>
        </p:nvSpPr>
        <p:spPr/>
        <p:txBody>
          <a:bodyPr/>
          <a:lstStyle/>
          <a:p>
            <a:fld id="{D0D7085E-C9F6-4764-AF56-D1C767855C27}" type="slidenum">
              <a:rPr lang="en-CH" smtClean="0"/>
              <a:t>32</a:t>
            </a:fld>
            <a:endParaRPr lang="en-CH"/>
          </a:p>
        </p:txBody>
      </p:sp>
    </p:spTree>
    <p:extLst>
      <p:ext uri="{BB962C8B-B14F-4D97-AF65-F5344CB8AC3E}">
        <p14:creationId xmlns:p14="http://schemas.microsoft.com/office/powerpoint/2010/main" val="311499262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Migrating to React offers numerous advantages that contribute to the long-term success of the application. This section will summarise the key benefits.</a:t>
            </a:r>
          </a:p>
        </p:txBody>
      </p:sp>
      <p:sp>
        <p:nvSpPr>
          <p:cNvPr id="4" name="Slide Number Placeholder 3"/>
          <p:cNvSpPr>
            <a:spLocks noGrp="1"/>
          </p:cNvSpPr>
          <p:nvPr>
            <p:ph type="sldNum" sz="quarter" idx="5"/>
          </p:nvPr>
        </p:nvSpPr>
        <p:spPr/>
        <p:txBody>
          <a:bodyPr/>
          <a:lstStyle/>
          <a:p>
            <a:fld id="{D0D7085E-C9F6-4764-AF56-D1C767855C27}" type="slidenum">
              <a:rPr lang="en-CH" smtClean="0"/>
              <a:t>33</a:t>
            </a:fld>
            <a:endParaRPr lang="en-CH"/>
          </a:p>
        </p:txBody>
      </p:sp>
    </p:spTree>
    <p:extLst>
      <p:ext uri="{BB962C8B-B14F-4D97-AF65-F5344CB8AC3E}">
        <p14:creationId xmlns:p14="http://schemas.microsoft.com/office/powerpoint/2010/main" val="215775994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With React, development teams can benefit from a more efficient workflow, enabling quicker iterations and faster time-to-market for new features and updates.</a:t>
            </a:r>
          </a:p>
        </p:txBody>
      </p:sp>
      <p:sp>
        <p:nvSpPr>
          <p:cNvPr id="4" name="Slide Number Placeholder 3"/>
          <p:cNvSpPr>
            <a:spLocks noGrp="1"/>
          </p:cNvSpPr>
          <p:nvPr>
            <p:ph type="sldNum" sz="quarter" idx="5"/>
          </p:nvPr>
        </p:nvSpPr>
        <p:spPr/>
        <p:txBody>
          <a:bodyPr/>
          <a:lstStyle/>
          <a:p>
            <a:fld id="{D0D7085E-C9F6-4764-AF56-D1C767855C27}" type="slidenum">
              <a:rPr lang="en-CH" smtClean="0"/>
              <a:t>34</a:t>
            </a:fld>
            <a:endParaRPr lang="en-CH"/>
          </a:p>
        </p:txBody>
      </p:sp>
    </p:spTree>
    <p:extLst>
      <p:ext uri="{BB962C8B-B14F-4D97-AF65-F5344CB8AC3E}">
        <p14:creationId xmlns:p14="http://schemas.microsoft.com/office/powerpoint/2010/main" val="399706438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Migrating to React not only enhances the current application but also positions it for the future. Adopting modern technologies ensures that the application remains relevant and adaptable to changes in the tech landscape.</a:t>
            </a:r>
          </a:p>
        </p:txBody>
      </p:sp>
      <p:sp>
        <p:nvSpPr>
          <p:cNvPr id="4" name="Slide Number Placeholder 3"/>
          <p:cNvSpPr>
            <a:spLocks noGrp="1"/>
          </p:cNvSpPr>
          <p:nvPr>
            <p:ph type="sldNum" sz="quarter" idx="5"/>
          </p:nvPr>
        </p:nvSpPr>
        <p:spPr/>
        <p:txBody>
          <a:bodyPr/>
          <a:lstStyle/>
          <a:p>
            <a:fld id="{D0D7085E-C9F6-4764-AF56-D1C767855C27}" type="slidenum">
              <a:rPr lang="en-CH" smtClean="0"/>
              <a:t>35</a:t>
            </a:fld>
            <a:endParaRPr lang="en-CH"/>
          </a:p>
        </p:txBody>
      </p:sp>
    </p:spTree>
    <p:extLst>
      <p:ext uri="{BB962C8B-B14F-4D97-AF65-F5344CB8AC3E}">
        <p14:creationId xmlns:p14="http://schemas.microsoft.com/office/powerpoint/2010/main" val="175951569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H"/>
              <a:t>In conclusion, migrating from a legacy JSP front-end to a modern single-page React application can significantly improve user experience, development speed, and application maintainability. This transition is essential for staying competitive in today's fast-paced digital environment.</a:t>
            </a:r>
          </a:p>
        </p:txBody>
      </p:sp>
      <p:sp>
        <p:nvSpPr>
          <p:cNvPr id="4" name="Slide Number Placeholder 3"/>
          <p:cNvSpPr>
            <a:spLocks noGrp="1"/>
          </p:cNvSpPr>
          <p:nvPr>
            <p:ph type="sldNum" sz="quarter" idx="5"/>
          </p:nvPr>
        </p:nvSpPr>
        <p:spPr/>
        <p:txBody>
          <a:bodyPr/>
          <a:lstStyle/>
          <a:p>
            <a:fld id="{D0D7085E-C9F6-4764-AF56-D1C767855C27}" type="slidenum">
              <a:rPr lang="en-CH" smtClean="0"/>
              <a:t>37</a:t>
            </a:fld>
            <a:endParaRPr lang="en-CH"/>
          </a:p>
        </p:txBody>
      </p:sp>
    </p:spTree>
    <p:extLst>
      <p:ext uri="{BB962C8B-B14F-4D97-AF65-F5344CB8AC3E}">
        <p14:creationId xmlns:p14="http://schemas.microsoft.com/office/powerpoint/2010/main" val="123391648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05E63517-3749-486A-B07E-35524CB84A46}" type="datetime1">
              <a:rPr lang="en-US" smtClean="0"/>
              <a:t>4/30/2025</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8354573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D7E741CE-57AD-49D4-9742-EEF7CAAFE70A}" type="datetime1">
              <a:rPr lang="en-US" smtClean="0"/>
              <a:t>4/30/2025</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885433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F9F7DA87-4C1A-4A66-B032-7479A0D6D5AB}" type="datetime1">
              <a:rPr lang="en-US" smtClean="0"/>
              <a:t>4/30/2025</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5140810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9A6C2905-FE43-4068-A17C-8437D40F3CF8}" type="datetime1">
              <a:rPr lang="en-US" smtClean="0"/>
              <a:t>4/30/2025</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690814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2547366D-4546-4AF3-98CE-3D05474396B5}" type="datetime1">
              <a:rPr lang="en-US" smtClean="0"/>
              <a:t>4/30/2025</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5652897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1258A0D0-59EB-4EB8-82D8-2F2C94CE14AF}" type="datetime1">
              <a:rPr lang="en-US" smtClean="0"/>
              <a:t>4/30/2025</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602636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46855508-2F59-4178-9B88-7750D4D86FE6}" type="datetime1">
              <a:rPr lang="en-US" smtClean="0"/>
              <a:t>4/30/2025</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446224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07922A75-0B40-42A0-ACD1-6323C6B58FB3}" type="datetime1">
              <a:rPr lang="en-US" smtClean="0"/>
              <a:t>4/30/2025</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6310715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11F28F8D-1DFB-48DF-9CB2-D96EB944FF0F}" type="datetime1">
              <a:rPr lang="en-US" smtClean="0"/>
              <a:t>4/30/2025</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3440422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A8169098-056A-4645-B1CF-811FEB42128C}" type="datetime1">
              <a:rPr lang="en-US" smtClean="0"/>
              <a:t>4/30/2025</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1627381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D9AECA3A-B9C5-49ED-A210-8C6F2DB8BC1F}" type="datetime1">
              <a:rPr lang="en-US" smtClean="0"/>
              <a:t>4/30/2025</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201142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DAF7FD4-BEFC-48A7-B954-01AE450AEC7A}" type="datetime1">
              <a:rPr lang="en-US" smtClean="0"/>
              <a:t>4/30/2025</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417703074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image" Target="../media/image17.jpg"/><Relationship Id="rId1" Type="http://schemas.openxmlformats.org/officeDocument/2006/relationships/slideLayout" Target="../slideLayouts/slideLayout4.xml"/><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4.xml"/><Relationship Id="rId4" Type="http://schemas.openxmlformats.org/officeDocument/2006/relationships/image" Target="../media/image23.png"/></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23.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17.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25.xml.rels><?xml version="1.0" encoding="UTF-8" standalone="yes"?>
<Relationships xmlns="http://schemas.openxmlformats.org/package/2006/relationships"><Relationship Id="rId3" Type="http://schemas.openxmlformats.org/officeDocument/2006/relationships/hyperlink" Target="https://storybook.js.org/" TargetMode="External"/><Relationship Id="rId2" Type="http://schemas.openxmlformats.org/officeDocument/2006/relationships/notesSlide" Target="../notesSlides/notesSlide19.xml"/><Relationship Id="rId1" Type="http://schemas.openxmlformats.org/officeDocument/2006/relationships/slideLayout" Target="../slideLayouts/slideLayout4.xml"/><Relationship Id="rId4" Type="http://schemas.openxmlformats.org/officeDocument/2006/relationships/image" Target="../media/image39.png"/></Relationships>
</file>

<file path=ppt/slides/_rels/slide26.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42.jpeg"/><Relationship Id="rId2" Type="http://schemas.openxmlformats.org/officeDocument/2006/relationships/notesSlide" Target="../notesSlides/notesSlide21.xml"/><Relationship Id="rId1" Type="http://schemas.openxmlformats.org/officeDocument/2006/relationships/slideLayout" Target="../slideLayouts/slideLayout4.xml"/></Relationships>
</file>

<file path=ppt/slides/_rels/slide29.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2.xml"/><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24.xml"/><Relationship Id="rId1" Type="http://schemas.openxmlformats.org/officeDocument/2006/relationships/slideLayout" Target="../slideLayouts/slideLayout4.xml"/></Relationships>
</file>

<file path=ppt/slides/_rels/slide32.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_rels/slide33.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35.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28.xml"/><Relationship Id="rId1" Type="http://schemas.openxmlformats.org/officeDocument/2006/relationships/slideLayout" Target="../slideLayouts/slideLayout4.xml"/></Relationships>
</file>

<file path=ppt/slides/_rels/slide3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E846B4F-C734-C50A-5EFB-681FB25B19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7F5590-8EC2-E166-F5CE-73D2DDE3D148}"/>
              </a:ext>
            </a:extLst>
          </p:cNvPr>
          <p:cNvSpPr>
            <a:spLocks noGrp="1"/>
          </p:cNvSpPr>
          <p:nvPr>
            <p:ph type="ctrTitle"/>
          </p:nvPr>
        </p:nvSpPr>
        <p:spPr>
          <a:xfrm>
            <a:off x="6546870" y="1255367"/>
            <a:ext cx="4540945" cy="2724433"/>
          </a:xfrm>
        </p:spPr>
        <p:txBody>
          <a:bodyPr>
            <a:noAutofit/>
          </a:bodyPr>
          <a:lstStyle/>
          <a:p>
            <a:pPr algn="l"/>
            <a:r>
              <a:rPr lang="en-GB" sz="3200" dirty="0"/>
              <a:t>Modernizing Legacy Code: </a:t>
            </a:r>
            <a:br>
              <a:rPr lang="en-GB" sz="3200" dirty="0"/>
            </a:br>
            <a:r>
              <a:rPr lang="en-GB" sz="3200" dirty="0"/>
              <a:t>A Case Study of React Implementation at CERN</a:t>
            </a:r>
          </a:p>
        </p:txBody>
      </p:sp>
      <p:sp>
        <p:nvSpPr>
          <p:cNvPr id="3" name="Subtitle 2">
            <a:extLst>
              <a:ext uri="{FF2B5EF4-FFF2-40B4-BE49-F238E27FC236}">
                <a16:creationId xmlns:a16="http://schemas.microsoft.com/office/drawing/2014/main" id="{1B92F678-74DF-0601-6156-A90BCD59A2E5}"/>
              </a:ext>
            </a:extLst>
          </p:cNvPr>
          <p:cNvSpPr>
            <a:spLocks noGrp="1"/>
          </p:cNvSpPr>
          <p:nvPr>
            <p:ph type="subTitle" idx="1"/>
          </p:nvPr>
        </p:nvSpPr>
        <p:spPr>
          <a:xfrm>
            <a:off x="6546869" y="4209874"/>
            <a:ext cx="4535401" cy="1487097"/>
          </a:xfrm>
        </p:spPr>
        <p:txBody>
          <a:bodyPr>
            <a:normAutofit/>
          </a:bodyPr>
          <a:lstStyle/>
          <a:p>
            <a:pPr algn="l"/>
            <a:r>
              <a:rPr lang="en-CH" sz="2000"/>
              <a:t>Transitioning to a more efficient web application framework</a:t>
            </a:r>
          </a:p>
        </p:txBody>
      </p:sp>
      <p:pic>
        <p:nvPicPr>
          <p:cNvPr id="4" name="Picture 3" descr="Scientist viewing DNA test results on a computer screen in the laboratory">
            <a:extLst>
              <a:ext uri="{FF2B5EF4-FFF2-40B4-BE49-F238E27FC236}">
                <a16:creationId xmlns:a16="http://schemas.microsoft.com/office/drawing/2014/main" id="{42DCC7EA-9603-4DD6-AB7D-710F6FFA51B8}"/>
              </a:ext>
            </a:extLst>
          </p:cNvPr>
          <p:cNvPicPr>
            <a:picLocks noChangeAspect="1"/>
          </p:cNvPicPr>
          <p:nvPr/>
        </p:nvPicPr>
        <p:blipFill>
          <a:blip r:embed="rId3"/>
          <a:srcRect l="25485" r="787"/>
          <a:stretch/>
        </p:blipFill>
        <p:spPr>
          <a:xfrm>
            <a:off x="1190113" y="1160168"/>
            <a:ext cx="4535401" cy="4536803"/>
          </a:xfrm>
          <a:prstGeom prst="rect">
            <a:avLst/>
          </a:prstGeom>
        </p:spPr>
      </p:pic>
      <p:sp>
        <p:nvSpPr>
          <p:cNvPr id="5" name="Subtitle 2">
            <a:extLst>
              <a:ext uri="{FF2B5EF4-FFF2-40B4-BE49-F238E27FC236}">
                <a16:creationId xmlns:a16="http://schemas.microsoft.com/office/drawing/2014/main" id="{F3842C50-EB9A-36CB-3394-E830A630CEFF}"/>
              </a:ext>
            </a:extLst>
          </p:cNvPr>
          <p:cNvSpPr txBox="1">
            <a:spLocks/>
          </p:cNvSpPr>
          <p:nvPr/>
        </p:nvSpPr>
        <p:spPr>
          <a:xfrm>
            <a:off x="6546869" y="5696971"/>
            <a:ext cx="3380437" cy="850392"/>
          </a:xfrm>
          <a:prstGeom prst="rect">
            <a:avLst/>
          </a:prstGeom>
        </p:spPr>
        <p:txBody>
          <a:bodyPr vert="horz" lIns="91440" tIns="45720" rIns="91440" bIns="45720" rtlCol="0" anchor="b">
            <a:normAutofit/>
          </a:bodyPr>
          <a:lstStyle>
            <a:lvl1pPr marL="0" indent="0" algn="l" defTabSz="914400" rtl="0" eaLnBrk="1" latinLnBrk="0" hangingPunct="1">
              <a:lnSpc>
                <a:spcPct val="110000"/>
              </a:lnSpc>
              <a:spcBef>
                <a:spcPts val="1000"/>
              </a:spcBef>
              <a:buFont typeface="Arial" panose="020B0604020202020204" pitchFamily="34" charset="0"/>
              <a:buNone/>
              <a:defRPr sz="2000" kern="1200">
                <a:solidFill>
                  <a:schemeClr val="tx1"/>
                </a:solidFill>
                <a:latin typeface="+mn-lt"/>
                <a:ea typeface="+mn-ea"/>
                <a:cs typeface="+mn-cs"/>
              </a:defRPr>
            </a:lvl1pPr>
            <a:lvl2pPr marL="457200" indent="0" algn="ctr" defTabSz="914400" rtl="0" eaLnBrk="1" latinLnBrk="0" hangingPunct="1">
              <a:lnSpc>
                <a:spcPct val="11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11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11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indent="0" algn="l" rtl="0" eaLnBrk="1" latinLnBrk="0" hangingPunct="1">
              <a:spcBef>
                <a:spcPts val="1000"/>
              </a:spcBef>
              <a:buNone/>
            </a:pPr>
            <a:r>
              <a:rPr lang="en-GB" sz="1200" dirty="0">
                <a:effectLst/>
                <a:latin typeface="Calisto MT" panose="02040603050505030304" pitchFamily="18" charset="0"/>
              </a:rPr>
              <a:t>D. Kekelidze, CERN</a:t>
            </a:r>
          </a:p>
          <a:p>
            <a:pPr marL="0" indent="0" algn="l" rtl="0" eaLnBrk="1" latinLnBrk="0" hangingPunct="1">
              <a:spcBef>
                <a:spcPts val="1000"/>
              </a:spcBef>
              <a:buNone/>
            </a:pPr>
            <a:r>
              <a:rPr lang="en-GB" sz="1200" dirty="0">
                <a:effectLst/>
                <a:latin typeface="Calisto MT" panose="02040603050505030304" pitchFamily="18" charset="0"/>
              </a:rPr>
              <a:t>Pori Spring Campus, May 2025</a:t>
            </a:r>
            <a:endParaRPr lang="en-CH" sz="1200" dirty="0"/>
          </a:p>
        </p:txBody>
      </p:sp>
      <p:sp>
        <p:nvSpPr>
          <p:cNvPr id="6" name="Slide Number Placeholder 5">
            <a:extLst>
              <a:ext uri="{FF2B5EF4-FFF2-40B4-BE49-F238E27FC236}">
                <a16:creationId xmlns:a16="http://schemas.microsoft.com/office/drawing/2014/main" id="{108E01DC-CB9B-14AE-F7DF-1E9E5DF8B7FF}"/>
              </a:ext>
            </a:extLst>
          </p:cNvPr>
          <p:cNvSpPr>
            <a:spLocks noGrp="1"/>
          </p:cNvSpPr>
          <p:nvPr>
            <p:ph type="sldNum" sz="quarter" idx="12"/>
          </p:nvPr>
        </p:nvSpPr>
        <p:spPr/>
        <p:txBody>
          <a:bodyPr/>
          <a:lstStyle/>
          <a:p>
            <a:fld id="{CC057153-B650-4DEB-B370-79DDCFDCE934}" type="slidenum">
              <a:rPr lang="en-US" smtClean="0"/>
              <a:t>1</a:t>
            </a:fld>
            <a:endParaRPr lang="en-US"/>
          </a:p>
        </p:txBody>
      </p:sp>
    </p:spTree>
    <p:extLst>
      <p:ext uri="{BB962C8B-B14F-4D97-AF65-F5344CB8AC3E}">
        <p14:creationId xmlns:p14="http://schemas.microsoft.com/office/powerpoint/2010/main" val="3575763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par>
                                <p:cTn id="8" presetID="10" presetClass="entr" presetSubtype="0" fill="hold" grpId="0" nodeType="withEffect">
                                  <p:stCondLst>
                                    <p:cond delay="1500"/>
                                  </p:stCondLst>
                                  <p:iterate>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700"/>
                                        <p:tgtEl>
                                          <p:spTgt spid="3">
                                            <p:txEl>
                                              <p:pRg st="0" end="0"/>
                                            </p:txEl>
                                          </p:spTgt>
                                        </p:tgtEl>
                                      </p:cBhvr>
                                    </p:animEffect>
                                  </p:childTnLst>
                                </p:cTn>
                              </p:par>
                              <p:par>
                                <p:cTn id="11" presetID="42" presetClass="entr" presetSubtype="0" fill="hold" grpId="1" nodeType="withEffect">
                                  <p:stCondLst>
                                    <p:cond delay="250"/>
                                  </p:stCondLst>
                                  <p:iterate>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250"/>
                                        <p:tgtEl>
                                          <p:spTgt spid="3"/>
                                        </p:tgtEl>
                                      </p:cBhvr>
                                    </p:animEffect>
                                    <p:anim calcmode="lin" valueType="num">
                                      <p:cBhvr>
                                        <p:cTn id="14" dur="250" fill="hold"/>
                                        <p:tgtEl>
                                          <p:spTgt spid="3"/>
                                        </p:tgtEl>
                                        <p:attrNameLst>
                                          <p:attrName>ppt_x</p:attrName>
                                        </p:attrNameLst>
                                      </p:cBhvr>
                                      <p:tavLst>
                                        <p:tav tm="0">
                                          <p:val>
                                            <p:strVal val="#ppt_x"/>
                                          </p:val>
                                        </p:tav>
                                        <p:tav tm="100000">
                                          <p:val>
                                            <p:strVal val="#ppt_x"/>
                                          </p:val>
                                        </p:tav>
                                      </p:tavLst>
                                    </p:anim>
                                    <p:anim calcmode="lin" valueType="num">
                                      <p:cBhvr>
                                        <p:cTn id="15"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8B40A42-0F45-E74A-8606-1D2F3CE35695}"/>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b="1" kern="1200" dirty="0">
                <a:solidFill>
                  <a:schemeClr val="tx1"/>
                </a:solidFill>
                <a:latin typeface="+mj-lt"/>
                <a:ea typeface="+mj-ea"/>
                <a:cs typeface="+mj-cs"/>
              </a:rPr>
              <a:t>Introducing Myself</a:t>
            </a:r>
          </a:p>
        </p:txBody>
      </p:sp>
      <p:sp>
        <p:nvSpPr>
          <p:cNvPr id="4" name="Content Placeholder 3">
            <a:extLst>
              <a:ext uri="{FF2B5EF4-FFF2-40B4-BE49-F238E27FC236}">
                <a16:creationId xmlns:a16="http://schemas.microsoft.com/office/drawing/2014/main" id="{CDF80AC2-0C29-AFDF-354C-9268D81212E0}"/>
              </a:ext>
            </a:extLst>
          </p:cNvPr>
          <p:cNvSpPr>
            <a:spLocks noGrp="1"/>
          </p:cNvSpPr>
          <p:nvPr>
            <p:ph sz="half" idx="2"/>
          </p:nvPr>
        </p:nvSpPr>
        <p:spPr>
          <a:xfrm>
            <a:off x="612647" y="2212848"/>
            <a:ext cx="4361687" cy="4096512"/>
          </a:xfrm>
        </p:spPr>
        <p:txBody>
          <a:bodyPr vert="horz" lIns="91440" tIns="45720" rIns="91440" bIns="45720" rtlCol="0">
            <a:normAutofit/>
          </a:bodyPr>
          <a:lstStyle/>
          <a:p>
            <a:pPr marL="228600" indent="-228600" algn="l" rtl="0" eaLnBrk="1" latinLnBrk="0" hangingPunct="1">
              <a:lnSpc>
                <a:spcPct val="120000"/>
              </a:lnSpc>
              <a:spcBef>
                <a:spcPts val="1000"/>
              </a:spcBef>
              <a:buFont typeface="Arial" panose="020B0604020202020204" pitchFamily="34" charset="0"/>
              <a:buChar char="•"/>
            </a:pPr>
            <a:r>
              <a:rPr lang="en-GB" sz="1800" dirty="0">
                <a:solidFill>
                  <a:srgbClr val="000000"/>
                </a:solidFill>
                <a:effectLst/>
                <a:latin typeface="Neue Haas Grotesk Text Pro" panose="020B0504020202020204" pitchFamily="34" charset="0"/>
              </a:rPr>
              <a:t>Technical Team Lead and Product Owner within the Business Computing group at CERN.</a:t>
            </a:r>
          </a:p>
          <a:p>
            <a:pPr marL="228600" indent="-228600" algn="l" rtl="0" eaLnBrk="1" latinLnBrk="0" hangingPunct="1">
              <a:lnSpc>
                <a:spcPct val="120000"/>
              </a:lnSpc>
              <a:spcBef>
                <a:spcPts val="1000"/>
              </a:spcBef>
              <a:buFont typeface="Arial" panose="020B0604020202020204" pitchFamily="34" charset="0"/>
              <a:buChar char="•"/>
            </a:pPr>
            <a:r>
              <a:rPr lang="en-GB" sz="1800" dirty="0">
                <a:solidFill>
                  <a:srgbClr val="000000"/>
                </a:solidFill>
                <a:effectLst/>
                <a:latin typeface="Neue Haas Grotesk Text Pro" panose="020B0504020202020204" pitchFamily="34" charset="0"/>
              </a:rPr>
              <a:t>Specialised in electronic document management and Role Based Access Control systems.</a:t>
            </a:r>
          </a:p>
          <a:p>
            <a:pPr marL="228600" indent="-228600" algn="l" rtl="0" eaLnBrk="1" latinLnBrk="0" hangingPunct="1">
              <a:lnSpc>
                <a:spcPct val="120000"/>
              </a:lnSpc>
              <a:spcBef>
                <a:spcPts val="1000"/>
              </a:spcBef>
              <a:buFont typeface="Arial" panose="020B0604020202020204" pitchFamily="34" charset="0"/>
              <a:buChar char="•"/>
            </a:pPr>
            <a:r>
              <a:rPr lang="en-GB" sz="1800" dirty="0">
                <a:solidFill>
                  <a:srgbClr val="000000"/>
                </a:solidFill>
                <a:effectLst/>
                <a:latin typeface="Neue Haas Grotesk Text Pro" panose="020B0504020202020204" pitchFamily="34" charset="0"/>
              </a:rPr>
              <a:t>Committed to improve legacy systems at CERN.</a:t>
            </a:r>
            <a:endParaRPr lang="en-US" sz="1800" dirty="0"/>
          </a:p>
        </p:txBody>
      </p:sp>
      <p:pic>
        <p:nvPicPr>
          <p:cNvPr id="6" name="Content Placeholder 5" descr="Person holding a puzzle piece">
            <a:extLst>
              <a:ext uri="{FF2B5EF4-FFF2-40B4-BE49-F238E27FC236}">
                <a16:creationId xmlns:a16="http://schemas.microsoft.com/office/drawing/2014/main" id="{60C33248-09A3-4C8D-B0F0-319BE04C4E3E}"/>
              </a:ext>
            </a:extLst>
          </p:cNvPr>
          <p:cNvPicPr>
            <a:picLocks noGrp="1" noChangeAspect="1"/>
          </p:cNvPicPr>
          <p:nvPr>
            <p:ph sz="half" idx="1"/>
          </p:nvPr>
        </p:nvPicPr>
        <p:blipFill>
          <a:blip r:embed="rId3"/>
          <a:srcRect l="18759" r="18278" b="-1"/>
          <a:stretch/>
        </p:blipFill>
        <p:spPr>
          <a:xfrm>
            <a:off x="5818632" y="-1"/>
            <a:ext cx="6373368" cy="6858001"/>
          </a:xfrm>
          <a:prstGeom prst="rect">
            <a:avLst/>
          </a:prstGeom>
        </p:spPr>
      </p:pic>
      <p:sp>
        <p:nvSpPr>
          <p:cNvPr id="5" name="Slide Number Placeholder 4">
            <a:extLst>
              <a:ext uri="{FF2B5EF4-FFF2-40B4-BE49-F238E27FC236}">
                <a16:creationId xmlns:a16="http://schemas.microsoft.com/office/drawing/2014/main" id="{98DF5934-64B6-AD88-6131-5A92973D8862}"/>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a:solidFill>
                  <a:srgbClr val="FFFFFF"/>
                </a:solidFill>
              </a:rPr>
              <a:pPr>
                <a:spcAft>
                  <a:spcPts val="600"/>
                </a:spcAft>
              </a:pPr>
              <a:t>2</a:t>
            </a:fld>
            <a:endParaRPr lang="en-US">
              <a:solidFill>
                <a:srgbClr val="FFFFFF"/>
              </a:solidFill>
            </a:endParaRPr>
          </a:p>
        </p:txBody>
      </p:sp>
    </p:spTree>
    <p:extLst>
      <p:ext uri="{BB962C8B-B14F-4D97-AF65-F5344CB8AC3E}">
        <p14:creationId xmlns:p14="http://schemas.microsoft.com/office/powerpoint/2010/main" val="32122389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AB5C7EE-A919-646B-4F86-BACCBC52D9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18D28818-E44B-BA33-48CA-1BA93C64EF56}"/>
              </a:ext>
            </a:extLst>
          </p:cNvPr>
          <p:cNvPicPr>
            <a:picLocks noGrp="1" noChangeAspect="1"/>
          </p:cNvPicPr>
          <p:nvPr>
            <p:ph sz="half" idx="1"/>
          </p:nvPr>
        </p:nvPicPr>
        <p:blipFill>
          <a:blip r:embed="rId2"/>
          <a:stretch>
            <a:fillRect/>
          </a:stretch>
        </p:blipFill>
        <p:spPr>
          <a:xfrm>
            <a:off x="1740537" y="574131"/>
            <a:ext cx="5024569" cy="5709738"/>
          </a:xfrm>
          <a:prstGeom prst="rect">
            <a:avLst/>
          </a:prstGeom>
        </p:spPr>
      </p:pic>
      <p:sp>
        <p:nvSpPr>
          <p:cNvPr id="5" name="Slide Number Placeholder 4">
            <a:extLst>
              <a:ext uri="{FF2B5EF4-FFF2-40B4-BE49-F238E27FC236}">
                <a16:creationId xmlns:a16="http://schemas.microsoft.com/office/drawing/2014/main" id="{69D890E3-4969-5BDB-6F6F-961202C62113}"/>
              </a:ext>
            </a:extLst>
          </p:cNvPr>
          <p:cNvSpPr>
            <a:spLocks noGrp="1"/>
          </p:cNvSpPr>
          <p:nvPr>
            <p:ph type="sldNum" sz="quarter" idx="12"/>
          </p:nvPr>
        </p:nvSpPr>
        <p:spPr>
          <a:xfrm>
            <a:off x="11632162" y="6453002"/>
            <a:ext cx="429207" cy="365125"/>
          </a:xfrm>
        </p:spPr>
        <p:txBody>
          <a:bodyPr vert="horz" lIns="91440" tIns="45720" rIns="91440" bIns="45720" rtlCol="0" anchor="ctr">
            <a:normAutofit/>
          </a:bodyPr>
          <a:lstStyle/>
          <a:p>
            <a:pPr>
              <a:spcAft>
                <a:spcPts val="600"/>
              </a:spcAft>
            </a:pPr>
            <a:fld id="{CC057153-B650-4DEB-B370-79DDCFDCE934}" type="slidenum">
              <a:rPr lang="en-US" smtClean="0"/>
              <a:pPr>
                <a:spcAft>
                  <a:spcPts val="600"/>
                </a:spcAft>
              </a:pPr>
              <a:t>3</a:t>
            </a:fld>
            <a:endParaRPr lang="en-US"/>
          </a:p>
        </p:txBody>
      </p:sp>
      <p:sp>
        <p:nvSpPr>
          <p:cNvPr id="11" name="Title 6">
            <a:extLst>
              <a:ext uri="{FF2B5EF4-FFF2-40B4-BE49-F238E27FC236}">
                <a16:creationId xmlns:a16="http://schemas.microsoft.com/office/drawing/2014/main" id="{A473C37E-DBFD-BA9C-D88E-0085A0C8D1B0}"/>
              </a:ext>
            </a:extLst>
          </p:cNvPr>
          <p:cNvSpPr txBox="1">
            <a:spLocks/>
          </p:cNvSpPr>
          <p:nvPr/>
        </p:nvSpPr>
        <p:spPr>
          <a:xfrm>
            <a:off x="8138159" y="1177348"/>
            <a:ext cx="3330906" cy="344106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a:lstStyle>
          <a:p>
            <a:r>
              <a:rPr lang="en-US" sz="4200" dirty="0"/>
              <a:t>ASYNC Follow up</a:t>
            </a:r>
          </a:p>
        </p:txBody>
      </p:sp>
    </p:spTree>
    <p:extLst>
      <p:ext uri="{BB962C8B-B14F-4D97-AF65-F5344CB8AC3E}">
        <p14:creationId xmlns:p14="http://schemas.microsoft.com/office/powerpoint/2010/main" val="749579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95B79CA-1CB8-A133-67D7-E2B7AC1F94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B1A668B-024C-F7ED-24FE-B0B07B12BD40}"/>
              </a:ext>
            </a:extLst>
          </p:cNvPr>
          <p:cNvSpPr>
            <a:spLocks noGrp="1"/>
          </p:cNvSpPr>
          <p:nvPr>
            <p:ph type="title"/>
          </p:nvPr>
        </p:nvSpPr>
        <p:spPr>
          <a:xfrm>
            <a:off x="978522" y="849085"/>
            <a:ext cx="3602356" cy="5179925"/>
          </a:xfrm>
        </p:spPr>
        <p:txBody>
          <a:bodyPr anchor="ctr">
            <a:normAutofit/>
          </a:bodyPr>
          <a:lstStyle/>
          <a:p>
            <a:r>
              <a:rPr lang="en-CH"/>
              <a:t>Agenda Items</a:t>
            </a:r>
          </a:p>
        </p:txBody>
      </p:sp>
      <p:sp>
        <p:nvSpPr>
          <p:cNvPr id="3" name="Content Placeholder 2">
            <a:extLst>
              <a:ext uri="{FF2B5EF4-FFF2-40B4-BE49-F238E27FC236}">
                <a16:creationId xmlns:a16="http://schemas.microsoft.com/office/drawing/2014/main" id="{46C340A9-3DC1-723B-5105-4143D044DB94}"/>
              </a:ext>
            </a:extLst>
          </p:cNvPr>
          <p:cNvSpPr>
            <a:spLocks noGrp="1"/>
          </p:cNvSpPr>
          <p:nvPr>
            <p:ph idx="1"/>
            <p:extLst>
              <p:ext uri="{E7BDC344-281C-4309-B0C6-D0EE65EED2A8}">
                <p202:designPr xmlns:p202="http://schemas.microsoft.com/office/powerpoint/2020/02/main">
                  <p202:designTagLst>
                    <p202:designTag name="ARCH:1:CLS" val="BulletedText"/>
                  </p202:designTagLst>
                </p202:designPr>
              </p:ext>
            </p:extLst>
          </p:nvPr>
        </p:nvSpPr>
        <p:spPr>
          <a:xfrm>
            <a:off x="5487394" y="849085"/>
            <a:ext cx="6144768" cy="5179925"/>
          </a:xfrm>
        </p:spPr>
        <p:txBody>
          <a:bodyPr anchor="ctr">
            <a:normAutofit/>
          </a:bodyPr>
          <a:lstStyle/>
          <a:p>
            <a:r>
              <a:rPr lang="en-GB" sz="1800" dirty="0"/>
              <a:t>Introduction to React and its Benefits</a:t>
            </a:r>
          </a:p>
          <a:p>
            <a:r>
              <a:rPr lang="en-GB" sz="1800" dirty="0"/>
              <a:t>Core Concepts of React</a:t>
            </a:r>
          </a:p>
          <a:p>
            <a:r>
              <a:rPr lang="en-GB" sz="1800" dirty="0"/>
              <a:t>Key Considerations for Migration</a:t>
            </a:r>
          </a:p>
          <a:p>
            <a:r>
              <a:rPr lang="en-GB" sz="1800" dirty="0"/>
              <a:t>Migration Path to React</a:t>
            </a:r>
          </a:p>
          <a:p>
            <a:r>
              <a:rPr lang="en-GB" sz="1800" dirty="0"/>
              <a:t>Code Examples and Practical Implementation</a:t>
            </a:r>
          </a:p>
          <a:p>
            <a:r>
              <a:rPr lang="en-GB" sz="1800" dirty="0"/>
              <a:t>Final Benefits of Migration</a:t>
            </a:r>
            <a:endParaRPr lang="en-CH" sz="1800" dirty="0"/>
          </a:p>
        </p:txBody>
      </p:sp>
      <p:sp>
        <p:nvSpPr>
          <p:cNvPr id="4" name="Slide Number Placeholder 3">
            <a:extLst>
              <a:ext uri="{FF2B5EF4-FFF2-40B4-BE49-F238E27FC236}">
                <a16:creationId xmlns:a16="http://schemas.microsoft.com/office/drawing/2014/main" id="{3FB80F58-FFCF-D63A-C61C-B2B19B340048}"/>
              </a:ext>
            </a:extLst>
          </p:cNvPr>
          <p:cNvSpPr>
            <a:spLocks noGrp="1"/>
          </p:cNvSpPr>
          <p:nvPr>
            <p:ph type="sldNum" sz="quarter" idx="12"/>
          </p:nvPr>
        </p:nvSpPr>
        <p:spPr/>
        <p:txBody>
          <a:bodyPr/>
          <a:lstStyle/>
          <a:p>
            <a:fld id="{CC057153-B650-4DEB-B370-79DDCFDCE934}" type="slidenum">
              <a:rPr lang="en-US" smtClean="0"/>
              <a:t>4</a:t>
            </a:fld>
            <a:endParaRPr lang="en-US"/>
          </a:p>
        </p:txBody>
      </p:sp>
    </p:spTree>
    <p:extLst>
      <p:ext uri="{BB962C8B-B14F-4D97-AF65-F5344CB8AC3E}">
        <p14:creationId xmlns:p14="http://schemas.microsoft.com/office/powerpoint/2010/main" val="357177280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250"/>
                                        <p:tgtEl>
                                          <p:spTgt spid="3"/>
                                        </p:tgtEl>
                                      </p:cBhvr>
                                    </p:animEffect>
                                    <p:anim calcmode="lin" valueType="num">
                                      <p:cBhvr>
                                        <p:cTn id="8" dur="250" fill="hold"/>
                                        <p:tgtEl>
                                          <p:spTgt spid="3"/>
                                        </p:tgtEl>
                                        <p:attrNameLst>
                                          <p:attrName>ppt_x</p:attrName>
                                        </p:attrNameLst>
                                      </p:cBhvr>
                                      <p:tavLst>
                                        <p:tav tm="0">
                                          <p:val>
                                            <p:strVal val="#ppt_x"/>
                                          </p:val>
                                        </p:tav>
                                        <p:tav tm="100000">
                                          <p:val>
                                            <p:strVal val="#ppt_x"/>
                                          </p:val>
                                        </p:tav>
                                      </p:tavLst>
                                    </p:anim>
                                    <p:anim calcmode="lin" valueType="num">
                                      <p:cBhvr>
                                        <p:cTn id="9" dur="25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86D8EF-A783-6210-9C7A-0DD3826F18CA}"/>
              </a:ext>
            </a:extLst>
          </p:cNvPr>
          <p:cNvSpPr>
            <a:spLocks noGrp="1"/>
          </p:cNvSpPr>
          <p:nvPr>
            <p:ph type="title"/>
          </p:nvPr>
        </p:nvSpPr>
        <p:spPr>
          <a:xfrm>
            <a:off x="327593" y="340661"/>
            <a:ext cx="7326472" cy="787897"/>
          </a:xfrm>
        </p:spPr>
        <p:txBody>
          <a:bodyPr vert="horz" wrap="square" lIns="91440" tIns="45720" rIns="91440" bIns="45720" rtlCol="0" anchor="b">
            <a:normAutofit/>
          </a:bodyPr>
          <a:lstStyle/>
          <a:p>
            <a:r>
              <a:rPr lang="en-US" sz="4000" dirty="0"/>
              <a:t>Case study subject</a:t>
            </a:r>
          </a:p>
        </p:txBody>
      </p:sp>
      <p:pic>
        <p:nvPicPr>
          <p:cNvPr id="5" name="Content Placeholder 4">
            <a:extLst>
              <a:ext uri="{FF2B5EF4-FFF2-40B4-BE49-F238E27FC236}">
                <a16:creationId xmlns:a16="http://schemas.microsoft.com/office/drawing/2014/main" id="{AADA055F-E1BF-57E8-4C0F-10EE36359797}"/>
              </a:ext>
            </a:extLst>
          </p:cNvPr>
          <p:cNvPicPr>
            <a:picLocks noGrp="1" noChangeAspect="1"/>
          </p:cNvPicPr>
          <p:nvPr>
            <p:ph idx="1"/>
          </p:nvPr>
        </p:nvPicPr>
        <p:blipFill>
          <a:blip r:embed="rId2"/>
          <a:srcRect b="4475"/>
          <a:stretch/>
        </p:blipFill>
        <p:spPr>
          <a:xfrm>
            <a:off x="20" y="1238596"/>
            <a:ext cx="12191979" cy="5619404"/>
          </a:xfrm>
          <a:prstGeom prst="rect">
            <a:avLst/>
          </a:prstGeom>
        </p:spPr>
      </p:pic>
      <p:sp>
        <p:nvSpPr>
          <p:cNvPr id="3" name="Slide Number Placeholder 2">
            <a:extLst>
              <a:ext uri="{FF2B5EF4-FFF2-40B4-BE49-F238E27FC236}">
                <a16:creationId xmlns:a16="http://schemas.microsoft.com/office/drawing/2014/main" id="{B7151811-D0D5-0307-F86E-75A548C88D02}"/>
              </a:ext>
            </a:extLst>
          </p:cNvPr>
          <p:cNvSpPr>
            <a:spLocks noGrp="1"/>
          </p:cNvSpPr>
          <p:nvPr>
            <p:ph type="sldNum" sz="quarter" idx="12"/>
          </p:nvPr>
        </p:nvSpPr>
        <p:spPr/>
        <p:txBody>
          <a:bodyPr/>
          <a:lstStyle/>
          <a:p>
            <a:fld id="{CC057153-B650-4DEB-B370-79DDCFDCE934}" type="slidenum">
              <a:rPr lang="en-US" smtClean="0"/>
              <a:t>5</a:t>
            </a:fld>
            <a:endParaRPr lang="en-US"/>
          </a:p>
        </p:txBody>
      </p:sp>
    </p:spTree>
    <p:extLst>
      <p:ext uri="{BB962C8B-B14F-4D97-AF65-F5344CB8AC3E}">
        <p14:creationId xmlns:p14="http://schemas.microsoft.com/office/powerpoint/2010/main" val="35980026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A calculus formula">
            <a:extLst>
              <a:ext uri="{FF2B5EF4-FFF2-40B4-BE49-F238E27FC236}">
                <a16:creationId xmlns:a16="http://schemas.microsoft.com/office/drawing/2014/main" id="{4BA1FB3A-3D2F-6775-2463-2B2327622FC6}"/>
              </a:ext>
            </a:extLst>
          </p:cNvPr>
          <p:cNvPicPr>
            <a:picLocks noChangeAspect="1"/>
          </p:cNvPicPr>
          <p:nvPr/>
        </p:nvPicPr>
        <p:blipFill>
          <a:blip r:embed="rId3"/>
          <a:srcRect t="2084" b="13647"/>
          <a:stretch/>
        </p:blipFill>
        <p:spPr>
          <a:xfrm>
            <a:off x="20" y="-1"/>
            <a:ext cx="12191980" cy="6858001"/>
          </a:xfrm>
          <a:prstGeom prst="rect">
            <a:avLst/>
          </a:prstGeom>
        </p:spPr>
      </p:pic>
      <p:sp>
        <p:nvSpPr>
          <p:cNvPr id="15" name="Rectangle 14">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6FD273-220C-5C8D-D667-A468B69CABCF}"/>
              </a:ext>
            </a:extLst>
          </p:cNvPr>
          <p:cNvSpPr>
            <a:spLocks noGrp="1"/>
          </p:cNvSpPr>
          <p:nvPr>
            <p:ph type="ctrTitle"/>
          </p:nvPr>
        </p:nvSpPr>
        <p:spPr>
          <a:xfrm>
            <a:off x="626918" y="3429000"/>
            <a:ext cx="4506064" cy="1888742"/>
          </a:xfrm>
        </p:spPr>
        <p:txBody>
          <a:bodyPr>
            <a:normAutofit/>
          </a:bodyPr>
          <a:lstStyle/>
          <a:p>
            <a:pPr algn="l"/>
            <a:r>
              <a:rPr lang="en-CH">
                <a:solidFill>
                  <a:srgbClr val="FFFFFF"/>
                </a:solidFill>
              </a:rPr>
              <a:t>Introduction to React and its Benefits</a:t>
            </a:r>
          </a:p>
        </p:txBody>
      </p:sp>
      <p:sp>
        <p:nvSpPr>
          <p:cNvPr id="3" name="Slide Number Placeholder 2">
            <a:extLst>
              <a:ext uri="{FF2B5EF4-FFF2-40B4-BE49-F238E27FC236}">
                <a16:creationId xmlns:a16="http://schemas.microsoft.com/office/drawing/2014/main" id="{0A56CA92-55E5-6108-74AB-2C998C6F5CF5}"/>
              </a:ext>
            </a:extLst>
          </p:cNvPr>
          <p:cNvSpPr>
            <a:spLocks noGrp="1"/>
          </p:cNvSpPr>
          <p:nvPr>
            <p:ph type="sldNum" sz="quarter" idx="12"/>
          </p:nvPr>
        </p:nvSpPr>
        <p:spPr/>
        <p:txBody>
          <a:bodyPr/>
          <a:lstStyle/>
          <a:p>
            <a:fld id="{CC057153-B650-4DEB-B370-79DDCFDCE934}" type="slidenum">
              <a:rPr lang="en-US" smtClean="0"/>
              <a:t>6</a:t>
            </a:fld>
            <a:endParaRPr lang="en-US"/>
          </a:p>
        </p:txBody>
      </p:sp>
    </p:spTree>
    <p:extLst>
      <p:ext uri="{BB962C8B-B14F-4D97-AF65-F5344CB8AC3E}">
        <p14:creationId xmlns:p14="http://schemas.microsoft.com/office/powerpoint/2010/main" val="226037223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318119-0E0D-35F6-D4D8-7365201AC0B9}"/>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Understanding React</a:t>
            </a:r>
          </a:p>
        </p:txBody>
      </p:sp>
      <p:sp>
        <p:nvSpPr>
          <p:cNvPr id="4" name="Content Placeholder 3">
            <a:extLst>
              <a:ext uri="{FF2B5EF4-FFF2-40B4-BE49-F238E27FC236}">
                <a16:creationId xmlns:a16="http://schemas.microsoft.com/office/drawing/2014/main" id="{0D9085D7-8C0F-B622-2480-0208974F33F6}"/>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dirty="0"/>
              <a:t>React is a JavaScript library for </a:t>
            </a:r>
            <a:r>
              <a:rPr lang="en-US" sz="1500"/>
              <a:t>building rich user </a:t>
            </a:r>
            <a:r>
              <a:rPr lang="en-US" sz="1500" dirty="0"/>
              <a:t>interfaces.</a:t>
            </a:r>
          </a:p>
          <a:p>
            <a:pPr>
              <a:lnSpc>
                <a:spcPct val="110000"/>
              </a:lnSpc>
            </a:pPr>
            <a:r>
              <a:rPr lang="en-US" sz="1500" dirty="0"/>
              <a:t>It allows developers to create reusable UI components.</a:t>
            </a:r>
          </a:p>
          <a:p>
            <a:pPr>
              <a:lnSpc>
                <a:spcPct val="110000"/>
              </a:lnSpc>
            </a:pPr>
            <a:r>
              <a:rPr lang="en-US" sz="1500" dirty="0"/>
              <a:t>It promotes a component-based architecture for better organization.</a:t>
            </a:r>
          </a:p>
          <a:p>
            <a:pPr>
              <a:lnSpc>
                <a:spcPct val="110000"/>
              </a:lnSpc>
            </a:pPr>
            <a:r>
              <a:rPr lang="en-US" sz="1500" dirty="0"/>
              <a:t>React can be used for building dynamic single-page applications.</a:t>
            </a:r>
          </a:p>
        </p:txBody>
      </p:sp>
      <p:pic>
        <p:nvPicPr>
          <p:cNvPr id="5" name="Content Placeholder 4" descr="Book on desk with Library word written on wooden cubes">
            <a:extLst>
              <a:ext uri="{FF2B5EF4-FFF2-40B4-BE49-F238E27FC236}">
                <a16:creationId xmlns:a16="http://schemas.microsoft.com/office/drawing/2014/main" id="{769E42BD-4AA3-4AAA-94F2-5FA7D095C13A}"/>
              </a:ext>
            </a:extLst>
          </p:cNvPr>
          <p:cNvPicPr>
            <a:picLocks noGrp="1" noChangeAspect="1"/>
          </p:cNvPicPr>
          <p:nvPr>
            <p:ph sz="half" idx="1"/>
          </p:nvPr>
        </p:nvPicPr>
        <p:blipFill>
          <a:blip r:embed="rId3"/>
          <a:stretch>
            <a:fillRect/>
          </a:stretch>
        </p:blipFill>
        <p:spPr>
          <a:xfrm>
            <a:off x="5691261" y="1480640"/>
            <a:ext cx="5837780" cy="3896718"/>
          </a:xfrm>
          <a:prstGeom prst="rect">
            <a:avLst/>
          </a:prstGeom>
        </p:spPr>
      </p:pic>
      <p:sp>
        <p:nvSpPr>
          <p:cNvPr id="3" name="Slide Number Placeholder 2">
            <a:extLst>
              <a:ext uri="{FF2B5EF4-FFF2-40B4-BE49-F238E27FC236}">
                <a16:creationId xmlns:a16="http://schemas.microsoft.com/office/drawing/2014/main" id="{411679AE-34A9-4774-9B53-F09A4DB0CC51}"/>
              </a:ext>
            </a:extLst>
          </p:cNvPr>
          <p:cNvSpPr>
            <a:spLocks noGrp="1"/>
          </p:cNvSpPr>
          <p:nvPr>
            <p:ph type="sldNum" sz="quarter" idx="12"/>
          </p:nvPr>
        </p:nvSpPr>
        <p:spPr/>
        <p:txBody>
          <a:bodyPr/>
          <a:lstStyle/>
          <a:p>
            <a:fld id="{CC057153-B650-4DEB-B370-79DDCFDCE934}" type="slidenum">
              <a:rPr lang="en-US" smtClean="0"/>
              <a:t>7</a:t>
            </a:fld>
            <a:endParaRPr lang="en-US"/>
          </a:p>
        </p:txBody>
      </p:sp>
    </p:spTree>
    <p:extLst>
      <p:ext uri="{BB962C8B-B14F-4D97-AF65-F5344CB8AC3E}">
        <p14:creationId xmlns:p14="http://schemas.microsoft.com/office/powerpoint/2010/main" val="21930268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479D7D-CD8F-01FC-7699-2E90F9BA5B9A}"/>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Overview of React</a:t>
            </a:r>
          </a:p>
        </p:txBody>
      </p:sp>
      <p:pic>
        <p:nvPicPr>
          <p:cNvPr id="5" name="Content Placeholder 4" descr="4K Resolution">
            <a:extLst>
              <a:ext uri="{FF2B5EF4-FFF2-40B4-BE49-F238E27FC236}">
                <a16:creationId xmlns:a16="http://schemas.microsoft.com/office/drawing/2014/main" id="{31F5B385-1EFC-4E51-89C5-545E6524D1C3}"/>
              </a:ext>
            </a:extLst>
          </p:cNvPr>
          <p:cNvPicPr>
            <a:picLocks noGrp="1" noChangeAspect="1"/>
          </p:cNvPicPr>
          <p:nvPr>
            <p:ph sz="half" idx="1"/>
          </p:nvPr>
        </p:nvPicPr>
        <p:blipFill>
          <a:blip r:embed="rId3"/>
          <a:srcRect l="30434" r="29291"/>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D911389E-94B0-55F0-CF61-B1551E84CE33}"/>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GB" sz="1400" b="1"/>
              <a:t>Declarative Nature</a:t>
            </a:r>
          </a:p>
          <a:p>
            <a:pPr marL="0" lvl="1" indent="0">
              <a:buNone/>
            </a:pPr>
            <a:r>
              <a:rPr lang="en-GB" sz="1400"/>
              <a:t>React's declarative nature allows developers to describe what the UI should look like, making it easy to manage state changes.</a:t>
            </a:r>
          </a:p>
          <a:p>
            <a:pPr marL="0" indent="0">
              <a:spcBef>
                <a:spcPts val="2500"/>
              </a:spcBef>
              <a:buNone/>
            </a:pPr>
            <a:r>
              <a:rPr lang="en-GB" sz="1400" b="1"/>
              <a:t>Component-Based Architecture</a:t>
            </a:r>
          </a:p>
          <a:p>
            <a:pPr marL="0" lvl="1" indent="0">
              <a:buNone/>
            </a:pPr>
            <a:r>
              <a:rPr lang="en-GB" sz="1400"/>
              <a:t>By using a component-based architecture, React enables the reuse of code, leading to more efficient and organized development.</a:t>
            </a:r>
          </a:p>
          <a:p>
            <a:pPr marL="0" indent="0">
              <a:spcBef>
                <a:spcPts val="2500"/>
              </a:spcBef>
              <a:buNone/>
            </a:pPr>
            <a:r>
              <a:rPr lang="en-GB" sz="1400" b="1"/>
              <a:t>Simplified UI Development</a:t>
            </a:r>
          </a:p>
          <a:p>
            <a:pPr marL="0" lvl="1" indent="0">
              <a:buNone/>
            </a:pPr>
            <a:r>
              <a:rPr lang="en-GB" sz="1400"/>
              <a:t>React simplifies the process of building complex user interfaces by allowing developers to work in smaller, manageable parts.</a:t>
            </a:r>
            <a:endParaRPr lang="en-CH" sz="1400"/>
          </a:p>
        </p:txBody>
      </p:sp>
      <p:sp>
        <p:nvSpPr>
          <p:cNvPr id="3" name="Slide Number Placeholder 2">
            <a:extLst>
              <a:ext uri="{FF2B5EF4-FFF2-40B4-BE49-F238E27FC236}">
                <a16:creationId xmlns:a16="http://schemas.microsoft.com/office/drawing/2014/main" id="{143A5481-CC18-B552-ACF7-C4839CA3E643}"/>
              </a:ext>
            </a:extLst>
          </p:cNvPr>
          <p:cNvSpPr>
            <a:spLocks noGrp="1"/>
          </p:cNvSpPr>
          <p:nvPr>
            <p:ph type="sldNum" sz="quarter" idx="12"/>
          </p:nvPr>
        </p:nvSpPr>
        <p:spPr/>
        <p:txBody>
          <a:bodyPr/>
          <a:lstStyle/>
          <a:p>
            <a:fld id="{CC057153-B650-4DEB-B370-79DDCFDCE934}" type="slidenum">
              <a:rPr lang="en-US" smtClean="0"/>
              <a:t>8</a:t>
            </a:fld>
            <a:endParaRPr lang="en-US"/>
          </a:p>
        </p:txBody>
      </p:sp>
    </p:spTree>
    <p:extLst>
      <p:ext uri="{BB962C8B-B14F-4D97-AF65-F5344CB8AC3E}">
        <p14:creationId xmlns:p14="http://schemas.microsoft.com/office/powerpoint/2010/main" val="15173755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B18E9B-677C-4AC0-0820-FE3BDE5A73CE}"/>
              </a:ext>
            </a:extLst>
          </p:cNvPr>
          <p:cNvSpPr>
            <a:spLocks noGrp="1"/>
          </p:cNvSpPr>
          <p:nvPr>
            <p:ph type="title"/>
          </p:nvPr>
        </p:nvSpPr>
        <p:spPr>
          <a:xfrm>
            <a:off x="612648" y="1114923"/>
            <a:ext cx="4621553" cy="741173"/>
          </a:xfrm>
        </p:spPr>
        <p:txBody>
          <a:bodyPr vert="horz" lIns="91440" tIns="45720" rIns="91440" bIns="45720" rtlCol="0" anchor="b">
            <a:normAutofit/>
          </a:bodyPr>
          <a:lstStyle/>
          <a:p>
            <a:r>
              <a:rPr lang="en-US" b="1" kern="1200" dirty="0">
                <a:solidFill>
                  <a:schemeClr val="tx1"/>
                </a:solidFill>
                <a:latin typeface="+mj-lt"/>
                <a:ea typeface="+mj-ea"/>
                <a:cs typeface="+mj-cs"/>
              </a:rPr>
              <a:t>Overview of JSP</a:t>
            </a:r>
          </a:p>
        </p:txBody>
      </p:sp>
      <p:sp>
        <p:nvSpPr>
          <p:cNvPr id="4" name="Content Placeholder 3">
            <a:extLst>
              <a:ext uri="{FF2B5EF4-FFF2-40B4-BE49-F238E27FC236}">
                <a16:creationId xmlns:a16="http://schemas.microsoft.com/office/drawing/2014/main" id="{23225B76-CB48-DF1A-A840-8C8B709E37FA}"/>
              </a:ext>
            </a:extLst>
          </p:cNvPr>
          <p:cNvSpPr>
            <a:spLocks noGrp="1"/>
          </p:cNvSpPr>
          <p:nvPr>
            <p:ph sz="half" idx="2"/>
          </p:nvPr>
        </p:nvSpPr>
        <p:spPr>
          <a:xfrm>
            <a:off x="612648" y="2010852"/>
            <a:ext cx="4621553" cy="3159018"/>
          </a:xfrm>
        </p:spPr>
        <p:txBody>
          <a:bodyPr vert="horz" lIns="91440" tIns="45720" rIns="91440" bIns="45720" rtlCol="0">
            <a:normAutofit/>
          </a:bodyPr>
          <a:lstStyle/>
          <a:p>
            <a:pPr>
              <a:lnSpc>
                <a:spcPct val="110000"/>
              </a:lnSpc>
            </a:pPr>
            <a:r>
              <a:rPr lang="en-US" sz="1500" dirty="0" err="1"/>
              <a:t>JavaServer</a:t>
            </a:r>
            <a:r>
              <a:rPr lang="en-US" sz="1500" dirty="0"/>
              <a:t> Pages (JSP) facilitate dynamic web content creation.</a:t>
            </a:r>
          </a:p>
          <a:p>
            <a:pPr>
              <a:lnSpc>
                <a:spcPct val="110000"/>
              </a:lnSpc>
            </a:pPr>
            <a:r>
              <a:rPr lang="en-US" sz="1500" dirty="0"/>
              <a:t>JSP allows embedding Java code directly into HTML for interactivity.</a:t>
            </a:r>
          </a:p>
          <a:p>
            <a:pPr>
              <a:lnSpc>
                <a:spcPct val="110000"/>
              </a:lnSpc>
            </a:pPr>
            <a:r>
              <a:rPr lang="en-US" sz="1500" dirty="0"/>
              <a:t>Enables the use of custom tags and libraries for enhanced functionality.</a:t>
            </a:r>
          </a:p>
          <a:p>
            <a:pPr>
              <a:lnSpc>
                <a:spcPct val="110000"/>
              </a:lnSpc>
            </a:pPr>
            <a:r>
              <a:rPr lang="en-US" sz="1500" dirty="0"/>
              <a:t>Can be combined with servlets for powerful web applications.</a:t>
            </a:r>
          </a:p>
        </p:txBody>
      </p:sp>
      <p:pic>
        <p:nvPicPr>
          <p:cNvPr id="5" name="Content Placeholder 4" descr="Illuminated server room panel">
            <a:extLst>
              <a:ext uri="{FF2B5EF4-FFF2-40B4-BE49-F238E27FC236}">
                <a16:creationId xmlns:a16="http://schemas.microsoft.com/office/drawing/2014/main" id="{369F50F0-AF7F-459E-926F-1294A8665F03}"/>
              </a:ext>
            </a:extLst>
          </p:cNvPr>
          <p:cNvPicPr>
            <a:picLocks noGrp="1" noChangeAspect="1"/>
          </p:cNvPicPr>
          <p:nvPr>
            <p:ph sz="half" idx="1"/>
          </p:nvPr>
        </p:nvPicPr>
        <p:blipFill>
          <a:blip r:embed="rId3"/>
          <a:stretch>
            <a:fillRect/>
          </a:stretch>
        </p:blipFill>
        <p:spPr>
          <a:xfrm>
            <a:off x="5691261" y="1480640"/>
            <a:ext cx="5837780" cy="3896719"/>
          </a:xfrm>
          <a:prstGeom prst="rect">
            <a:avLst/>
          </a:prstGeom>
        </p:spPr>
      </p:pic>
      <p:sp>
        <p:nvSpPr>
          <p:cNvPr id="3" name="Slide Number Placeholder 2">
            <a:extLst>
              <a:ext uri="{FF2B5EF4-FFF2-40B4-BE49-F238E27FC236}">
                <a16:creationId xmlns:a16="http://schemas.microsoft.com/office/drawing/2014/main" id="{795E3405-2024-4151-8D09-63933F35459C}"/>
              </a:ext>
            </a:extLst>
          </p:cNvPr>
          <p:cNvSpPr>
            <a:spLocks noGrp="1"/>
          </p:cNvSpPr>
          <p:nvPr>
            <p:ph type="sldNum" sz="quarter" idx="12"/>
          </p:nvPr>
        </p:nvSpPr>
        <p:spPr/>
        <p:txBody>
          <a:bodyPr/>
          <a:lstStyle/>
          <a:p>
            <a:fld id="{CC057153-B650-4DEB-B370-79DDCFDCE934}" type="slidenum">
              <a:rPr lang="en-US" smtClean="0"/>
              <a:t>9</a:t>
            </a:fld>
            <a:endParaRPr lang="en-US"/>
          </a:p>
        </p:txBody>
      </p:sp>
    </p:spTree>
    <p:extLst>
      <p:ext uri="{BB962C8B-B14F-4D97-AF65-F5344CB8AC3E}">
        <p14:creationId xmlns:p14="http://schemas.microsoft.com/office/powerpoint/2010/main" val="2831301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6ACA6F80-D392-A64E-3CF8-F28F1CCEE6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E242C68C-C533-8BA0-AF59-8F7231C930E9}"/>
              </a:ext>
            </a:extLst>
          </p:cNvPr>
          <p:cNvSpPr>
            <a:spLocks noGrp="1"/>
          </p:cNvSpPr>
          <p:nvPr>
            <p:ph type="title"/>
          </p:nvPr>
        </p:nvSpPr>
        <p:spPr>
          <a:xfrm>
            <a:off x="612648" y="548640"/>
            <a:ext cx="4803224" cy="1298446"/>
          </a:xfrm>
        </p:spPr>
        <p:txBody>
          <a:bodyPr vert="horz" lIns="91440" tIns="45720" rIns="91440" bIns="45720" rtlCol="0" anchor="t">
            <a:normAutofit/>
          </a:bodyPr>
          <a:lstStyle/>
          <a:p>
            <a:r>
              <a:rPr lang="en-US" sz="2800" b="1" kern="1200" dirty="0">
                <a:solidFill>
                  <a:schemeClr val="tx1"/>
                </a:solidFill>
                <a:latin typeface="+mj-lt"/>
                <a:ea typeface="+mj-ea"/>
                <a:cs typeface="+mj-cs"/>
              </a:rPr>
              <a:t>Advantages over static HTML and JSP templates</a:t>
            </a:r>
          </a:p>
        </p:txBody>
      </p:sp>
      <p:pic>
        <p:nvPicPr>
          <p:cNvPr id="5" name="Content Placeholder 4" descr="Atom model">
            <a:extLst>
              <a:ext uri="{FF2B5EF4-FFF2-40B4-BE49-F238E27FC236}">
                <a16:creationId xmlns:a16="http://schemas.microsoft.com/office/drawing/2014/main" id="{DDB184ED-5FDD-438C-965E-67B9E78871F8}"/>
              </a:ext>
            </a:extLst>
          </p:cNvPr>
          <p:cNvPicPr>
            <a:picLocks noGrp="1" noChangeAspect="1"/>
          </p:cNvPicPr>
          <p:nvPr>
            <p:ph sz="half" idx="1"/>
          </p:nvPr>
        </p:nvPicPr>
        <p:blipFill>
          <a:blip r:embed="rId3"/>
          <a:srcRect t="4775" r="1" b="3481"/>
          <a:stretch/>
        </p:blipFill>
        <p:spPr>
          <a:xfrm>
            <a:off x="731521" y="2011679"/>
            <a:ext cx="4684352" cy="4297680"/>
          </a:xfrm>
          <a:prstGeom prst="rect">
            <a:avLst/>
          </a:prstGeom>
        </p:spPr>
      </p:pic>
      <p:sp>
        <p:nvSpPr>
          <p:cNvPr id="4" name="Content Placeholder 3">
            <a:extLst>
              <a:ext uri="{FF2B5EF4-FFF2-40B4-BE49-F238E27FC236}">
                <a16:creationId xmlns:a16="http://schemas.microsoft.com/office/drawing/2014/main" id="{1B52029C-560A-F8AB-637D-60ED74C2380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28520" y="548637"/>
            <a:ext cx="5546770" cy="5760723"/>
          </a:xfrm>
        </p:spPr>
        <p:txBody>
          <a:bodyPr>
            <a:normAutofit lnSpcReduction="10000"/>
          </a:bodyPr>
          <a:lstStyle/>
          <a:p>
            <a:pPr marL="0" indent="0">
              <a:spcBef>
                <a:spcPts val="2500"/>
              </a:spcBef>
              <a:buNone/>
            </a:pPr>
            <a:r>
              <a:rPr lang="en-GB" sz="1400" b="1" dirty="0"/>
              <a:t>Simplified Scripting</a:t>
            </a:r>
            <a:r>
              <a:rPr lang="en-GB" sz="1400" dirty="0"/>
              <a:t> </a:t>
            </a:r>
            <a:br>
              <a:rPr lang="en-GB" sz="1400" dirty="0"/>
            </a:br>
            <a:r>
              <a:rPr lang="en-GB" sz="1300" dirty="0"/>
              <a:t>ReactJS uses JavaScript, which is arguably the world’s most popular programming language.</a:t>
            </a:r>
            <a:endParaRPr lang="en-GB" sz="1300" b="1" dirty="0"/>
          </a:p>
          <a:p>
            <a:pPr marL="0" indent="0">
              <a:spcBef>
                <a:spcPts val="2500"/>
              </a:spcBef>
              <a:buNone/>
            </a:pPr>
            <a:r>
              <a:rPr lang="en-GB" sz="1400" b="1" dirty="0"/>
              <a:t>Component Reusability</a:t>
            </a:r>
          </a:p>
          <a:p>
            <a:pPr marL="0" lvl="1" indent="0">
              <a:buNone/>
            </a:pPr>
            <a:r>
              <a:rPr lang="en-GB" sz="1400" dirty="0"/>
              <a:t>React allows developers to create reusable components, which reduces redundancy and speeds up development processes.</a:t>
            </a:r>
          </a:p>
          <a:p>
            <a:pPr marL="0" indent="0">
              <a:spcBef>
                <a:spcPts val="2500"/>
              </a:spcBef>
              <a:buNone/>
            </a:pPr>
            <a:r>
              <a:rPr lang="en-GB" sz="1400" b="1" dirty="0"/>
              <a:t>State Management</a:t>
            </a:r>
          </a:p>
          <a:p>
            <a:pPr marL="0" lvl="1" indent="0">
              <a:buNone/>
            </a:pPr>
            <a:r>
              <a:rPr lang="en-GB" sz="1400" dirty="0"/>
              <a:t>React simplifies state management through its built-in hooks, enabling efficient data handling and dynamic UI updates.</a:t>
            </a:r>
          </a:p>
          <a:p>
            <a:pPr marL="0" indent="0">
              <a:spcBef>
                <a:spcPts val="2500"/>
              </a:spcBef>
              <a:buNone/>
            </a:pPr>
            <a:r>
              <a:rPr lang="en-GB" sz="1400" b="1" dirty="0"/>
              <a:t>Improved User Experience</a:t>
            </a:r>
          </a:p>
          <a:p>
            <a:pPr marL="0" lvl="1" indent="0">
              <a:buNone/>
            </a:pPr>
            <a:r>
              <a:rPr lang="en-GB" sz="1400" dirty="0"/>
              <a:t>With React, developers can create highly interactive interfaces, enhancing the user experience significantly compared to static templates.</a:t>
            </a:r>
          </a:p>
          <a:p>
            <a:pPr marL="0" indent="0">
              <a:spcBef>
                <a:spcPts val="2500"/>
              </a:spcBef>
              <a:buNone/>
            </a:pPr>
            <a:r>
              <a:rPr lang="en-GB" sz="1400" b="1" dirty="0"/>
              <a:t>Faster Development Cycles</a:t>
            </a:r>
          </a:p>
          <a:p>
            <a:pPr marL="0" lvl="1" indent="0">
              <a:buNone/>
            </a:pPr>
            <a:r>
              <a:rPr lang="en-GB" sz="1400" dirty="0"/>
              <a:t>The combination of component reusability and effective state management leads to faster development cycles and easier maintenance.</a:t>
            </a:r>
            <a:endParaRPr lang="en-CH" sz="1400" dirty="0"/>
          </a:p>
        </p:txBody>
      </p:sp>
      <p:sp>
        <p:nvSpPr>
          <p:cNvPr id="3" name="Slide Number Placeholder 2">
            <a:extLst>
              <a:ext uri="{FF2B5EF4-FFF2-40B4-BE49-F238E27FC236}">
                <a16:creationId xmlns:a16="http://schemas.microsoft.com/office/drawing/2014/main" id="{32D644EC-AACB-F13B-3C8F-449609CB0081}"/>
              </a:ext>
            </a:extLst>
          </p:cNvPr>
          <p:cNvSpPr>
            <a:spLocks noGrp="1"/>
          </p:cNvSpPr>
          <p:nvPr>
            <p:ph type="sldNum" sz="quarter" idx="12"/>
          </p:nvPr>
        </p:nvSpPr>
        <p:spPr/>
        <p:txBody>
          <a:bodyPr/>
          <a:lstStyle/>
          <a:p>
            <a:fld id="{CC057153-B650-4DEB-B370-79DDCFDCE934}" type="slidenum">
              <a:rPr lang="en-US" smtClean="0"/>
              <a:t>10</a:t>
            </a:fld>
            <a:endParaRPr lang="en-US"/>
          </a:p>
        </p:txBody>
      </p:sp>
    </p:spTree>
    <p:extLst>
      <p:ext uri="{BB962C8B-B14F-4D97-AF65-F5344CB8AC3E}">
        <p14:creationId xmlns:p14="http://schemas.microsoft.com/office/powerpoint/2010/main" val="27367953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8" name="Picture 17" descr="One big red drawing pin in front of many smaller black drawing pins">
            <a:extLst>
              <a:ext uri="{FF2B5EF4-FFF2-40B4-BE49-F238E27FC236}">
                <a16:creationId xmlns:a16="http://schemas.microsoft.com/office/drawing/2014/main" id="{B7D98957-EE50-66AD-DC1E-2C06223E79F5}"/>
              </a:ext>
            </a:extLst>
          </p:cNvPr>
          <p:cNvPicPr>
            <a:picLocks noChangeAspect="1"/>
          </p:cNvPicPr>
          <p:nvPr/>
        </p:nvPicPr>
        <p:blipFill>
          <a:blip r:embed="rId3"/>
          <a:srcRect t="16740" b="6205"/>
          <a:stretch/>
        </p:blipFill>
        <p:spPr>
          <a:xfrm>
            <a:off x="20" y="-1"/>
            <a:ext cx="12191980" cy="6858001"/>
          </a:xfrm>
          <a:prstGeom prst="rect">
            <a:avLst/>
          </a:prstGeom>
        </p:spPr>
      </p:pic>
      <p:sp>
        <p:nvSpPr>
          <p:cNvPr id="19" name="Rectangle 18">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63890DC-4E40-B399-0977-C0CFF87ACDC1}"/>
              </a:ext>
            </a:extLst>
          </p:cNvPr>
          <p:cNvSpPr>
            <a:spLocks noGrp="1"/>
          </p:cNvSpPr>
          <p:nvPr>
            <p:ph type="ctrTitle"/>
          </p:nvPr>
        </p:nvSpPr>
        <p:spPr>
          <a:xfrm>
            <a:off x="626918" y="3429000"/>
            <a:ext cx="4506064" cy="1888742"/>
          </a:xfrm>
        </p:spPr>
        <p:txBody>
          <a:bodyPr>
            <a:normAutofit/>
          </a:bodyPr>
          <a:lstStyle/>
          <a:p>
            <a:pPr algn="l"/>
            <a:r>
              <a:rPr lang="en-CH">
                <a:solidFill>
                  <a:srgbClr val="FFFFFF"/>
                </a:solidFill>
              </a:rPr>
              <a:t>Core Concepts of React</a:t>
            </a:r>
          </a:p>
        </p:txBody>
      </p:sp>
      <p:sp>
        <p:nvSpPr>
          <p:cNvPr id="3" name="Slide Number Placeholder 2">
            <a:extLst>
              <a:ext uri="{FF2B5EF4-FFF2-40B4-BE49-F238E27FC236}">
                <a16:creationId xmlns:a16="http://schemas.microsoft.com/office/drawing/2014/main" id="{289CCF4F-B3EB-FC26-0A22-E63613327C02}"/>
              </a:ext>
            </a:extLst>
          </p:cNvPr>
          <p:cNvSpPr>
            <a:spLocks noGrp="1"/>
          </p:cNvSpPr>
          <p:nvPr>
            <p:ph type="sldNum" sz="quarter" idx="12"/>
          </p:nvPr>
        </p:nvSpPr>
        <p:spPr/>
        <p:txBody>
          <a:bodyPr/>
          <a:lstStyle/>
          <a:p>
            <a:fld id="{CC057153-B650-4DEB-B370-79DDCFDCE934}" type="slidenum">
              <a:rPr lang="en-US" smtClean="0"/>
              <a:t>11</a:t>
            </a:fld>
            <a:endParaRPr lang="en-US"/>
          </a:p>
        </p:txBody>
      </p:sp>
    </p:spTree>
    <p:extLst>
      <p:ext uri="{BB962C8B-B14F-4D97-AF65-F5344CB8AC3E}">
        <p14:creationId xmlns:p14="http://schemas.microsoft.com/office/powerpoint/2010/main" val="24586161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88C887-BE90-AAD1-DD48-5218AF445D06}"/>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b="1" kern="1200" dirty="0">
                <a:solidFill>
                  <a:schemeClr val="tx1"/>
                </a:solidFill>
                <a:latin typeface="+mj-lt"/>
                <a:ea typeface="+mj-ea"/>
                <a:cs typeface="+mj-cs"/>
              </a:rPr>
              <a:t>Components and JSX</a:t>
            </a:r>
          </a:p>
        </p:txBody>
      </p:sp>
      <p:pic>
        <p:nvPicPr>
          <p:cNvPr id="5" name="Content Placeholder 4" descr="Atom concept on digital display">
            <a:extLst>
              <a:ext uri="{FF2B5EF4-FFF2-40B4-BE49-F238E27FC236}">
                <a16:creationId xmlns:a16="http://schemas.microsoft.com/office/drawing/2014/main" id="{10ED9E8E-A700-4515-846A-AF0977A1A6D3}"/>
              </a:ext>
            </a:extLst>
          </p:cNvPr>
          <p:cNvPicPr>
            <a:picLocks noGrp="1" noChangeAspect="1"/>
          </p:cNvPicPr>
          <p:nvPr>
            <p:ph sz="half" idx="1"/>
          </p:nvPr>
        </p:nvPicPr>
        <p:blipFill>
          <a:blip r:embed="rId3"/>
          <a:srcRect l="30021" r="25230"/>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F5A36C2B-9904-4DD8-8BF5-617203CC6E5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GB" sz="1400" b="1" dirty="0"/>
              <a:t>Building Blocks of React</a:t>
            </a:r>
          </a:p>
          <a:p>
            <a:pPr marL="0" lvl="1" indent="0">
              <a:buNone/>
            </a:pPr>
            <a:r>
              <a:rPr lang="en-GB" sz="1400" dirty="0"/>
              <a:t>Components serve as the fundamental building blocks for creating dynamic and interactive user interfaces in React applications.</a:t>
            </a:r>
          </a:p>
          <a:p>
            <a:pPr marL="0" indent="0">
              <a:spcBef>
                <a:spcPts val="2500"/>
              </a:spcBef>
              <a:buNone/>
            </a:pPr>
            <a:r>
              <a:rPr lang="en-GB" sz="1400" b="1" dirty="0"/>
              <a:t>JSX Syntax</a:t>
            </a:r>
          </a:p>
          <a:p>
            <a:pPr marL="0" lvl="1" indent="0">
              <a:buNone/>
            </a:pPr>
            <a:r>
              <a:rPr lang="en-GB" sz="1400" dirty="0"/>
              <a:t>JSX allows developers to use HTML-like syntax within JavaScript, enhancing readability and simplifying the creation of components.</a:t>
            </a:r>
          </a:p>
        </p:txBody>
      </p:sp>
      <p:sp>
        <p:nvSpPr>
          <p:cNvPr id="3" name="Slide Number Placeholder 2">
            <a:extLst>
              <a:ext uri="{FF2B5EF4-FFF2-40B4-BE49-F238E27FC236}">
                <a16:creationId xmlns:a16="http://schemas.microsoft.com/office/drawing/2014/main" id="{ED5298DB-08F4-F179-652D-0FA3FB309A4D}"/>
              </a:ext>
            </a:extLst>
          </p:cNvPr>
          <p:cNvSpPr>
            <a:spLocks noGrp="1"/>
          </p:cNvSpPr>
          <p:nvPr>
            <p:ph type="sldNum" sz="quarter" idx="12"/>
          </p:nvPr>
        </p:nvSpPr>
        <p:spPr/>
        <p:txBody>
          <a:bodyPr/>
          <a:lstStyle/>
          <a:p>
            <a:fld id="{CC057153-B650-4DEB-B370-79DDCFDCE934}" type="slidenum">
              <a:rPr lang="en-US" smtClean="0"/>
              <a:t>12</a:t>
            </a:fld>
            <a:endParaRPr lang="en-US"/>
          </a:p>
        </p:txBody>
      </p:sp>
    </p:spTree>
    <p:extLst>
      <p:ext uri="{BB962C8B-B14F-4D97-AF65-F5344CB8AC3E}">
        <p14:creationId xmlns:p14="http://schemas.microsoft.com/office/powerpoint/2010/main" val="37765955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2CC1E4F-F1F0-B945-BE50-C72A7103E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CBDE4BA-BFF9-9069-4065-48032DFE6C2F}"/>
              </a:ext>
            </a:extLst>
          </p:cNvPr>
          <p:cNvSpPr>
            <a:spLocks noGrp="1"/>
          </p:cNvSpPr>
          <p:nvPr>
            <p:ph type="title"/>
          </p:nvPr>
        </p:nvSpPr>
        <p:spPr>
          <a:xfrm>
            <a:off x="7123007" y="603501"/>
            <a:ext cx="4361693" cy="1527049"/>
          </a:xfrm>
        </p:spPr>
        <p:txBody>
          <a:bodyPr vert="horz" lIns="91440" tIns="45720" rIns="91440" bIns="45720" rtlCol="0" anchor="b">
            <a:normAutofit/>
          </a:bodyPr>
          <a:lstStyle/>
          <a:p>
            <a:r>
              <a:rPr lang="en-US" b="1" kern="1200" dirty="0">
                <a:solidFill>
                  <a:schemeClr val="tx1"/>
                </a:solidFill>
                <a:latin typeface="+mj-lt"/>
                <a:ea typeface="+mj-ea"/>
                <a:cs typeface="+mj-cs"/>
              </a:rPr>
              <a:t>State and Props</a:t>
            </a:r>
          </a:p>
        </p:txBody>
      </p:sp>
      <p:pic>
        <p:nvPicPr>
          <p:cNvPr id="5" name="Content Placeholder 4" descr="Global communication and collaboration intricately involving electronic ropes and keys through social networking of smart phones equipped with AI.">
            <a:extLst>
              <a:ext uri="{FF2B5EF4-FFF2-40B4-BE49-F238E27FC236}">
                <a16:creationId xmlns:a16="http://schemas.microsoft.com/office/drawing/2014/main" id="{B573FEC7-64C1-4D95-95C5-666DA8BA1CBB}"/>
              </a:ext>
            </a:extLst>
          </p:cNvPr>
          <p:cNvPicPr>
            <a:picLocks noGrp="1" noChangeAspect="1"/>
          </p:cNvPicPr>
          <p:nvPr>
            <p:ph sz="half" idx="1"/>
          </p:nvPr>
        </p:nvPicPr>
        <p:blipFill>
          <a:blip r:embed="rId3"/>
          <a:srcRect l="22852" r="15114" b="-1"/>
          <a:stretch/>
        </p:blipFill>
        <p:spPr>
          <a:xfrm>
            <a:off x="1" y="10"/>
            <a:ext cx="6373368" cy="6857990"/>
          </a:xfrm>
          <a:prstGeom prst="rect">
            <a:avLst/>
          </a:prstGeom>
        </p:spPr>
      </p:pic>
      <p:sp>
        <p:nvSpPr>
          <p:cNvPr id="4" name="Content Placeholder 3">
            <a:extLst>
              <a:ext uri="{FF2B5EF4-FFF2-40B4-BE49-F238E27FC236}">
                <a16:creationId xmlns:a16="http://schemas.microsoft.com/office/drawing/2014/main" id="{C672AE60-D3E1-026C-FA5A-2BCA80D6DD42}"/>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7123007" y="2212846"/>
            <a:ext cx="4361693" cy="4096514"/>
          </a:xfrm>
        </p:spPr>
        <p:txBody>
          <a:bodyPr>
            <a:normAutofit/>
          </a:bodyPr>
          <a:lstStyle/>
          <a:p>
            <a:pPr marL="0" indent="0">
              <a:spcBef>
                <a:spcPts val="2500"/>
              </a:spcBef>
              <a:buNone/>
            </a:pPr>
            <a:r>
              <a:rPr lang="en-GB" sz="1400" b="1"/>
              <a:t>Understanding State</a:t>
            </a:r>
          </a:p>
          <a:p>
            <a:pPr marL="0" lvl="1" indent="0">
              <a:buNone/>
            </a:pPr>
            <a:r>
              <a:rPr lang="en-GB" sz="1400"/>
              <a:t>State is a built-in object in React that allows components to maintain their own data and update the UI accordingly.</a:t>
            </a:r>
          </a:p>
          <a:p>
            <a:pPr marL="0" indent="0">
              <a:spcBef>
                <a:spcPts val="2500"/>
              </a:spcBef>
              <a:buNone/>
            </a:pPr>
            <a:r>
              <a:rPr lang="en-GB" sz="1400" b="1"/>
              <a:t>Role of Props</a:t>
            </a:r>
          </a:p>
          <a:p>
            <a:pPr marL="0" lvl="1" indent="0">
              <a:buNone/>
            </a:pPr>
            <a:r>
              <a:rPr lang="en-GB" sz="1400"/>
              <a:t>Props are used in React to pass data from parent components to child components, facilitating communication between them.</a:t>
            </a:r>
            <a:endParaRPr lang="en-CH" sz="1400"/>
          </a:p>
        </p:txBody>
      </p:sp>
      <p:sp>
        <p:nvSpPr>
          <p:cNvPr id="3" name="Slide Number Placeholder 2">
            <a:extLst>
              <a:ext uri="{FF2B5EF4-FFF2-40B4-BE49-F238E27FC236}">
                <a16:creationId xmlns:a16="http://schemas.microsoft.com/office/drawing/2014/main" id="{FCEA2FA0-FB62-F2B9-FCF5-FA28E28D8454}"/>
              </a:ext>
            </a:extLst>
          </p:cNvPr>
          <p:cNvSpPr>
            <a:spLocks noGrp="1"/>
          </p:cNvSpPr>
          <p:nvPr>
            <p:ph type="sldNum" sz="quarter" idx="12"/>
          </p:nvPr>
        </p:nvSpPr>
        <p:spPr/>
        <p:txBody>
          <a:bodyPr/>
          <a:lstStyle/>
          <a:p>
            <a:fld id="{CC057153-B650-4DEB-B370-79DDCFDCE934}" type="slidenum">
              <a:rPr lang="en-US" smtClean="0"/>
              <a:t>13</a:t>
            </a:fld>
            <a:endParaRPr lang="en-US"/>
          </a:p>
        </p:txBody>
      </p:sp>
    </p:spTree>
    <p:extLst>
      <p:ext uri="{BB962C8B-B14F-4D97-AF65-F5344CB8AC3E}">
        <p14:creationId xmlns:p14="http://schemas.microsoft.com/office/powerpoint/2010/main" val="143583320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F8530A-1E1E-F026-3EF3-29B46A2A2A8A}"/>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b="1" kern="1200" dirty="0" err="1">
                <a:solidFill>
                  <a:schemeClr val="tx1"/>
                </a:solidFill>
                <a:latin typeface="+mj-lt"/>
                <a:ea typeface="+mj-ea"/>
                <a:cs typeface="+mj-cs"/>
              </a:rPr>
              <a:t>Intoduction</a:t>
            </a:r>
            <a:r>
              <a:rPr lang="en-US" b="1" kern="1200" dirty="0">
                <a:solidFill>
                  <a:schemeClr val="tx1"/>
                </a:solidFill>
                <a:latin typeface="+mj-lt"/>
                <a:ea typeface="+mj-ea"/>
                <a:cs typeface="+mj-cs"/>
              </a:rPr>
              <a:t> to hooks</a:t>
            </a:r>
          </a:p>
        </p:txBody>
      </p:sp>
      <p:pic>
        <p:nvPicPr>
          <p:cNvPr id="5" name="Content Placeholder 4" descr="Red Communication bubbles with copy space are connected each other with black arrows. This image shows the social media, and online communication between people.">
            <a:extLst>
              <a:ext uri="{FF2B5EF4-FFF2-40B4-BE49-F238E27FC236}">
                <a16:creationId xmlns:a16="http://schemas.microsoft.com/office/drawing/2014/main" id="{057AA034-CDED-40CC-A461-AB7B5EC9E1F6}"/>
              </a:ext>
            </a:extLst>
          </p:cNvPr>
          <p:cNvPicPr>
            <a:picLocks noGrp="1" noChangeAspect="1"/>
          </p:cNvPicPr>
          <p:nvPr>
            <p:ph sz="half" idx="1"/>
          </p:nvPr>
        </p:nvPicPr>
        <p:blipFill>
          <a:blip r:embed="rId3"/>
          <a:srcRect t="1295" r="3" b="3"/>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B14E9B6B-A55F-7356-B5A9-604CFC8D6D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5796301"/>
          </a:xfrm>
        </p:spPr>
        <p:txBody>
          <a:bodyPr>
            <a:normAutofit/>
          </a:bodyPr>
          <a:lstStyle/>
          <a:p>
            <a:pPr marL="0" indent="0">
              <a:spcBef>
                <a:spcPts val="2500"/>
              </a:spcBef>
              <a:buNone/>
            </a:pPr>
            <a:r>
              <a:rPr lang="en-GB" sz="1400" b="1" dirty="0"/>
              <a:t>React Hooks</a:t>
            </a:r>
          </a:p>
          <a:p>
            <a:pPr marL="0" lvl="1" indent="0">
              <a:buNone/>
            </a:pPr>
            <a:r>
              <a:rPr lang="en-GB" sz="1400" dirty="0"/>
              <a:t>Hooks offer a simpler and more intuitive approach to managing state and side effects in functional components, improving code readability.</a:t>
            </a:r>
          </a:p>
          <a:p>
            <a:pPr marL="0" indent="0">
              <a:spcBef>
                <a:spcPts val="2500"/>
              </a:spcBef>
              <a:buNone/>
            </a:pPr>
            <a:r>
              <a:rPr lang="en-GB" sz="1400" b="1" dirty="0"/>
              <a:t>State Management with </a:t>
            </a:r>
            <a:r>
              <a:rPr lang="en-GB" sz="1400" b="1" dirty="0" err="1"/>
              <a:t>useState</a:t>
            </a:r>
            <a:endParaRPr lang="en-GB" sz="1400" b="1" dirty="0"/>
          </a:p>
          <a:p>
            <a:pPr marL="0" lvl="1" indent="0">
              <a:buNone/>
            </a:pPr>
            <a:r>
              <a:rPr lang="en-GB" sz="1400" dirty="0"/>
              <a:t>The </a:t>
            </a:r>
            <a:r>
              <a:rPr lang="en-GB" sz="1400" dirty="0" err="1"/>
              <a:t>useState</a:t>
            </a:r>
            <a:r>
              <a:rPr lang="en-GB" sz="1400" dirty="0"/>
              <a:t> hook allows developers to add state to functional components, making it easier to manage and update component data.</a:t>
            </a:r>
          </a:p>
          <a:p>
            <a:pPr marL="0" indent="0">
              <a:spcBef>
                <a:spcPts val="2500"/>
              </a:spcBef>
              <a:buNone/>
            </a:pPr>
            <a:r>
              <a:rPr lang="en-GB" sz="1400" b="1" dirty="0"/>
              <a:t>Side Effects with </a:t>
            </a:r>
            <a:r>
              <a:rPr lang="en-GB" sz="1400" b="1" dirty="0" err="1"/>
              <a:t>useEffect</a:t>
            </a:r>
            <a:endParaRPr lang="en-GB" sz="1400" b="1" dirty="0"/>
          </a:p>
          <a:p>
            <a:pPr marL="0" lvl="1" indent="0">
              <a:buNone/>
            </a:pPr>
            <a:r>
              <a:rPr lang="en-GB" sz="1400" dirty="0"/>
              <a:t>The </a:t>
            </a:r>
            <a:r>
              <a:rPr lang="en-GB" sz="1400" dirty="0" err="1"/>
              <a:t>useEffect</a:t>
            </a:r>
            <a:r>
              <a:rPr lang="en-GB" sz="1400" dirty="0"/>
              <a:t> hook handles side effects in functional components, allowing developers to manage operations like data fetching and subscriptions.</a:t>
            </a:r>
            <a:endParaRPr lang="en-CH" sz="1400" dirty="0"/>
          </a:p>
        </p:txBody>
      </p:sp>
      <p:sp>
        <p:nvSpPr>
          <p:cNvPr id="3" name="Slide Number Placeholder 2">
            <a:extLst>
              <a:ext uri="{FF2B5EF4-FFF2-40B4-BE49-F238E27FC236}">
                <a16:creationId xmlns:a16="http://schemas.microsoft.com/office/drawing/2014/main" id="{B3236B6D-4ACE-AD1F-7E08-1007E2B03A8B}"/>
              </a:ext>
            </a:extLst>
          </p:cNvPr>
          <p:cNvSpPr>
            <a:spLocks noGrp="1"/>
          </p:cNvSpPr>
          <p:nvPr>
            <p:ph type="sldNum" sz="quarter" idx="12"/>
          </p:nvPr>
        </p:nvSpPr>
        <p:spPr/>
        <p:txBody>
          <a:bodyPr/>
          <a:lstStyle/>
          <a:p>
            <a:fld id="{CC057153-B650-4DEB-B370-79DDCFDCE934}" type="slidenum">
              <a:rPr lang="en-US" smtClean="0"/>
              <a:t>14</a:t>
            </a:fld>
            <a:endParaRPr lang="en-US"/>
          </a:p>
        </p:txBody>
      </p:sp>
    </p:spTree>
    <p:extLst>
      <p:ext uri="{BB962C8B-B14F-4D97-AF65-F5344CB8AC3E}">
        <p14:creationId xmlns:p14="http://schemas.microsoft.com/office/powerpoint/2010/main" val="37272557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Hand holding keys">
            <a:extLst>
              <a:ext uri="{FF2B5EF4-FFF2-40B4-BE49-F238E27FC236}">
                <a16:creationId xmlns:a16="http://schemas.microsoft.com/office/drawing/2014/main" id="{0A3E7E46-B380-09ED-C69B-165775D50EEB}"/>
              </a:ext>
            </a:extLst>
          </p:cNvPr>
          <p:cNvPicPr>
            <a:picLocks noChangeAspect="1"/>
          </p:cNvPicPr>
          <p:nvPr/>
        </p:nvPicPr>
        <p:blipFill>
          <a:blip r:embed="rId3"/>
          <a:srcRect t="13309" b="2421"/>
          <a:stretch/>
        </p:blipFill>
        <p:spPr>
          <a:xfrm>
            <a:off x="20" y="-1"/>
            <a:ext cx="12191980" cy="6858001"/>
          </a:xfrm>
          <a:prstGeom prst="rect">
            <a:avLst/>
          </a:prstGeom>
        </p:spPr>
      </p:pic>
      <p:sp>
        <p:nvSpPr>
          <p:cNvPr id="15" name="Rectangle 14">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215945-C5F7-A815-1EB5-BCF14D25ECEF}"/>
              </a:ext>
            </a:extLst>
          </p:cNvPr>
          <p:cNvSpPr>
            <a:spLocks noGrp="1"/>
          </p:cNvSpPr>
          <p:nvPr>
            <p:ph type="ctrTitle"/>
          </p:nvPr>
        </p:nvSpPr>
        <p:spPr>
          <a:xfrm>
            <a:off x="626918" y="3429000"/>
            <a:ext cx="4506064" cy="1888742"/>
          </a:xfrm>
        </p:spPr>
        <p:txBody>
          <a:bodyPr>
            <a:normAutofit/>
          </a:bodyPr>
          <a:lstStyle/>
          <a:p>
            <a:pPr algn="l"/>
            <a:r>
              <a:rPr lang="en-CH">
                <a:solidFill>
                  <a:srgbClr val="FFFFFF"/>
                </a:solidFill>
              </a:rPr>
              <a:t>Key Considerations for Migration</a:t>
            </a:r>
          </a:p>
        </p:txBody>
      </p:sp>
      <p:sp>
        <p:nvSpPr>
          <p:cNvPr id="3" name="Slide Number Placeholder 2">
            <a:extLst>
              <a:ext uri="{FF2B5EF4-FFF2-40B4-BE49-F238E27FC236}">
                <a16:creationId xmlns:a16="http://schemas.microsoft.com/office/drawing/2014/main" id="{55E97F23-6E5D-C77C-9009-79884DEBD5F7}"/>
              </a:ext>
            </a:extLst>
          </p:cNvPr>
          <p:cNvSpPr>
            <a:spLocks noGrp="1"/>
          </p:cNvSpPr>
          <p:nvPr>
            <p:ph type="sldNum" sz="quarter" idx="12"/>
          </p:nvPr>
        </p:nvSpPr>
        <p:spPr/>
        <p:txBody>
          <a:bodyPr/>
          <a:lstStyle/>
          <a:p>
            <a:fld id="{CC057153-B650-4DEB-B370-79DDCFDCE934}" type="slidenum">
              <a:rPr lang="en-US" smtClean="0"/>
              <a:t>15</a:t>
            </a:fld>
            <a:endParaRPr lang="en-US"/>
          </a:p>
        </p:txBody>
      </p:sp>
    </p:spTree>
    <p:extLst>
      <p:ext uri="{BB962C8B-B14F-4D97-AF65-F5344CB8AC3E}">
        <p14:creationId xmlns:p14="http://schemas.microsoft.com/office/powerpoint/2010/main" val="412619801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44178D-5883-67E6-5804-D5C3C9986336}"/>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Analyzing the existing monolithic application</a:t>
            </a:r>
          </a:p>
        </p:txBody>
      </p:sp>
      <p:sp>
        <p:nvSpPr>
          <p:cNvPr id="4" name="Content Placeholder 3">
            <a:extLst>
              <a:ext uri="{FF2B5EF4-FFF2-40B4-BE49-F238E27FC236}">
                <a16:creationId xmlns:a16="http://schemas.microsoft.com/office/drawing/2014/main" id="{99FD8D16-150B-84EE-F48D-A0B5E79CBC30}"/>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GB" sz="1400" b="1" dirty="0"/>
              <a:t>Current Application Structure</a:t>
            </a:r>
          </a:p>
          <a:p>
            <a:pPr marL="0" lvl="1" indent="0">
              <a:buNone/>
            </a:pPr>
            <a:r>
              <a:rPr lang="en-GB" sz="1400" dirty="0"/>
              <a:t>Understanding the current application's structure is crucial for determining its components and layout before migration.</a:t>
            </a:r>
          </a:p>
          <a:p>
            <a:pPr marL="0" indent="0">
              <a:spcBef>
                <a:spcPts val="2500"/>
              </a:spcBef>
              <a:buNone/>
            </a:pPr>
            <a:r>
              <a:rPr lang="en-GB" sz="1400" b="1" dirty="0"/>
              <a:t>Functionality Overview</a:t>
            </a:r>
          </a:p>
          <a:p>
            <a:pPr marL="0" lvl="1" indent="0">
              <a:buNone/>
            </a:pPr>
            <a:r>
              <a:rPr lang="en-GB" sz="1400" dirty="0"/>
              <a:t>Assessing the functionality of the current application helps in identifying essential features to retain in the new React version.</a:t>
            </a:r>
          </a:p>
          <a:p>
            <a:pPr marL="0" indent="0">
              <a:spcBef>
                <a:spcPts val="2500"/>
              </a:spcBef>
              <a:buNone/>
            </a:pPr>
            <a:r>
              <a:rPr lang="en-GB" sz="1400" b="1" dirty="0"/>
              <a:t>Dependency Analysis</a:t>
            </a:r>
          </a:p>
          <a:p>
            <a:pPr marL="0" lvl="1" indent="0">
              <a:buNone/>
            </a:pPr>
            <a:r>
              <a:rPr lang="en-GB" sz="1400" dirty="0"/>
              <a:t>Analysing dependencies within the legacy application is vital for any successful migration, ensuring compatibility and performance.</a:t>
            </a:r>
            <a:endParaRPr lang="en-CH" sz="1400" dirty="0"/>
          </a:p>
        </p:txBody>
      </p:sp>
      <p:pic>
        <p:nvPicPr>
          <p:cNvPr id="5" name="Content Placeholder 4" descr="Female drawing flow chart">
            <a:extLst>
              <a:ext uri="{FF2B5EF4-FFF2-40B4-BE49-F238E27FC236}">
                <a16:creationId xmlns:a16="http://schemas.microsoft.com/office/drawing/2014/main" id="{E623DCA3-A014-4194-BD31-3B05CB88E885}"/>
              </a:ext>
            </a:extLst>
          </p:cNvPr>
          <p:cNvPicPr>
            <a:picLocks noGrp="1" noChangeAspect="1"/>
          </p:cNvPicPr>
          <p:nvPr>
            <p:ph sz="half" idx="1"/>
          </p:nvPr>
        </p:nvPicPr>
        <p:blipFill>
          <a:blip r:embed="rId3"/>
          <a:srcRect l="25175" r="28539" b="2"/>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5C063C32-2A73-84EA-714F-3BC46205C153}"/>
              </a:ext>
            </a:extLst>
          </p:cNvPr>
          <p:cNvSpPr>
            <a:spLocks noGrp="1"/>
          </p:cNvSpPr>
          <p:nvPr>
            <p:ph type="sldNum" sz="quarter" idx="12"/>
          </p:nvPr>
        </p:nvSpPr>
        <p:spPr/>
        <p:txBody>
          <a:bodyPr/>
          <a:lstStyle/>
          <a:p>
            <a:fld id="{CC057153-B650-4DEB-B370-79DDCFDCE934}" type="slidenum">
              <a:rPr lang="en-US" smtClean="0"/>
              <a:t>16</a:t>
            </a:fld>
            <a:endParaRPr lang="en-US"/>
          </a:p>
        </p:txBody>
      </p:sp>
    </p:spTree>
    <p:extLst>
      <p:ext uri="{BB962C8B-B14F-4D97-AF65-F5344CB8AC3E}">
        <p14:creationId xmlns:p14="http://schemas.microsoft.com/office/powerpoint/2010/main" val="32424273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4E7541F-D694-64CA-A057-8FAC2928E1B0}"/>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Application codebase</a:t>
            </a:r>
          </a:p>
        </p:txBody>
      </p:sp>
      <p:sp>
        <p:nvSpPr>
          <p:cNvPr id="3" name="Content Placeholder 2">
            <a:extLst>
              <a:ext uri="{FF2B5EF4-FFF2-40B4-BE49-F238E27FC236}">
                <a16:creationId xmlns:a16="http://schemas.microsoft.com/office/drawing/2014/main" id="{E81DDAFD-99BB-F514-278D-69307800915F}"/>
              </a:ext>
            </a:extLst>
          </p:cNvPr>
          <p:cNvSpPr>
            <a:spLocks noGrp="1"/>
          </p:cNvSpPr>
          <p:nvPr>
            <p:ph sz="half" idx="1"/>
          </p:nvPr>
        </p:nvSpPr>
        <p:spPr>
          <a:xfrm>
            <a:off x="612648" y="2584058"/>
            <a:ext cx="4621553" cy="3159018"/>
          </a:xfrm>
        </p:spPr>
        <p:txBody>
          <a:bodyPr vert="horz" lIns="91440" tIns="45720" rIns="91440" bIns="45720" rtlCol="0">
            <a:normAutofit fontScale="92500"/>
          </a:bodyPr>
          <a:lstStyle/>
          <a:p>
            <a:pPr marL="228600">
              <a:lnSpc>
                <a:spcPct val="110000"/>
              </a:lnSpc>
              <a:spcBef>
                <a:spcPts val="1000"/>
              </a:spcBef>
            </a:pPr>
            <a:r>
              <a:rPr lang="en-US" sz="1400" dirty="0">
                <a:effectLst/>
              </a:rPr>
              <a:t>The size of the Java classes alone is ~150 MB, which is approximately </a:t>
            </a:r>
            <a:r>
              <a:rPr lang="en-GB" sz="1400" dirty="0">
                <a:effectLst/>
              </a:rPr>
              <a:t>the entire Harry Potter series in digital format or around the size of the code needed for controlling a rocket launcher, including all the necessary algorithms and safety protocols.</a:t>
            </a:r>
            <a:endParaRPr lang="en-US" sz="1400" dirty="0">
              <a:effectLst/>
            </a:endParaRPr>
          </a:p>
          <a:p>
            <a:pPr marL="228600">
              <a:lnSpc>
                <a:spcPct val="110000"/>
              </a:lnSpc>
              <a:spcBef>
                <a:spcPts val="1000"/>
              </a:spcBef>
            </a:pPr>
            <a:r>
              <a:rPr lang="en-US" sz="1400" dirty="0">
                <a:effectLst/>
              </a:rPr>
              <a:t>It features a sophisticated multi-module architecture with interdependencies.</a:t>
            </a:r>
          </a:p>
          <a:p>
            <a:pPr marL="228600">
              <a:lnSpc>
                <a:spcPct val="110000"/>
              </a:lnSpc>
              <a:spcBef>
                <a:spcPts val="1000"/>
              </a:spcBef>
            </a:pPr>
            <a:r>
              <a:rPr lang="en-US" sz="1400" dirty="0">
                <a:effectLst/>
              </a:rPr>
              <a:t>There are various entry points, including UI, API, and scripts, along with integrations with third-party systems.</a:t>
            </a:r>
          </a:p>
          <a:p>
            <a:pPr marL="228600">
              <a:lnSpc>
                <a:spcPct val="110000"/>
              </a:lnSpc>
              <a:spcBef>
                <a:spcPts val="1000"/>
              </a:spcBef>
            </a:pPr>
            <a:r>
              <a:rPr lang="en-US" sz="1400" dirty="0">
                <a:effectLst/>
              </a:rPr>
              <a:t>The project includes undocumented features, intricate business logic, and a deficiency in automated testing.</a:t>
            </a:r>
            <a:endParaRPr lang="en-US" sz="1400" dirty="0"/>
          </a:p>
        </p:txBody>
      </p:sp>
      <p:pic>
        <p:nvPicPr>
          <p:cNvPr id="5" name="Content Placeholder 5" descr="A diagram of a network&#10;&#10;AI-generated content may be incorrect.">
            <a:extLst>
              <a:ext uri="{FF2B5EF4-FFF2-40B4-BE49-F238E27FC236}">
                <a16:creationId xmlns:a16="http://schemas.microsoft.com/office/drawing/2014/main" id="{DA02958E-A652-AFF1-4A65-06FC3198DC7C}"/>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691261" y="1349290"/>
            <a:ext cx="5837780" cy="4159418"/>
          </a:xfrm>
          <a:prstGeom prst="rect">
            <a:avLst/>
          </a:prstGeom>
        </p:spPr>
      </p:pic>
      <p:sp>
        <p:nvSpPr>
          <p:cNvPr id="4" name="Slide Number Placeholder 3">
            <a:extLst>
              <a:ext uri="{FF2B5EF4-FFF2-40B4-BE49-F238E27FC236}">
                <a16:creationId xmlns:a16="http://schemas.microsoft.com/office/drawing/2014/main" id="{019F75A7-311D-A68D-752D-D0CDA10E031F}"/>
              </a:ext>
            </a:extLst>
          </p:cNvPr>
          <p:cNvSpPr>
            <a:spLocks noGrp="1"/>
          </p:cNvSpPr>
          <p:nvPr>
            <p:ph type="sldNum" sz="quarter" idx="12"/>
          </p:nvPr>
        </p:nvSpPr>
        <p:spPr/>
        <p:txBody>
          <a:bodyPr/>
          <a:lstStyle/>
          <a:p>
            <a:fld id="{CC057153-B650-4DEB-B370-79DDCFDCE934}" type="slidenum">
              <a:rPr lang="en-US" smtClean="0"/>
              <a:t>17</a:t>
            </a:fld>
            <a:endParaRPr lang="en-US"/>
          </a:p>
        </p:txBody>
      </p:sp>
    </p:spTree>
    <p:extLst>
      <p:ext uri="{BB962C8B-B14F-4D97-AF65-F5344CB8AC3E}">
        <p14:creationId xmlns:p14="http://schemas.microsoft.com/office/powerpoint/2010/main" val="4441369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flowchart&#10;&#10;AI-generated content may be incorrect.">
            <a:extLst>
              <a:ext uri="{FF2B5EF4-FFF2-40B4-BE49-F238E27FC236}">
                <a16:creationId xmlns:a16="http://schemas.microsoft.com/office/drawing/2014/main" id="{CED289E4-985E-A553-7242-0DF9CC31060A}"/>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1021381" y="391886"/>
            <a:ext cx="3411452" cy="6037943"/>
          </a:xfrm>
        </p:spPr>
      </p:pic>
      <p:pic>
        <p:nvPicPr>
          <p:cNvPr id="8" name="Content Placeholder 7" descr="A diagram of a flowchart&#10;&#10;AI-generated content may be incorrect.">
            <a:extLst>
              <a:ext uri="{FF2B5EF4-FFF2-40B4-BE49-F238E27FC236}">
                <a16:creationId xmlns:a16="http://schemas.microsoft.com/office/drawing/2014/main" id="{1E9061A9-EBD5-7F65-DC44-95109B38C64A}"/>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5262432" y="391886"/>
            <a:ext cx="6411808" cy="6037943"/>
          </a:xfrm>
        </p:spPr>
      </p:pic>
      <p:pic>
        <p:nvPicPr>
          <p:cNvPr id="1026" name="Picture 2">
            <a:extLst>
              <a:ext uri="{FF2B5EF4-FFF2-40B4-BE49-F238E27FC236}">
                <a16:creationId xmlns:a16="http://schemas.microsoft.com/office/drawing/2014/main" id="{DD4968DB-51D1-D782-7CF4-91D022A8BFA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99869" y="0"/>
            <a:ext cx="4054475" cy="6858000"/>
          </a:xfrm>
          <a:prstGeom prst="rect">
            <a:avLst/>
          </a:prstGeom>
          <a:noFill/>
          <a:extLst>
            <a:ext uri="{909E8E84-426E-40DD-AFC4-6F175D3DCCD1}">
              <a14:hiddenFill xmlns:a14="http://schemas.microsoft.com/office/drawing/2010/main">
                <a:solidFill>
                  <a:srgbClr val="FFFFFF"/>
                </a:solidFill>
              </a14:hiddenFill>
            </a:ext>
          </a:extLst>
        </p:spPr>
      </p:pic>
      <p:sp>
        <p:nvSpPr>
          <p:cNvPr id="2" name="Slide Number Placeholder 1">
            <a:extLst>
              <a:ext uri="{FF2B5EF4-FFF2-40B4-BE49-F238E27FC236}">
                <a16:creationId xmlns:a16="http://schemas.microsoft.com/office/drawing/2014/main" id="{FDCF227E-27D0-223F-3B2F-73951EA93015}"/>
              </a:ext>
            </a:extLst>
          </p:cNvPr>
          <p:cNvSpPr>
            <a:spLocks noGrp="1"/>
          </p:cNvSpPr>
          <p:nvPr>
            <p:ph type="sldNum" sz="quarter" idx="12"/>
          </p:nvPr>
        </p:nvSpPr>
        <p:spPr/>
        <p:txBody>
          <a:bodyPr/>
          <a:lstStyle/>
          <a:p>
            <a:fld id="{CC057153-B650-4DEB-B370-79DDCFDCE934}" type="slidenum">
              <a:rPr lang="en-US" smtClean="0"/>
              <a:t>18</a:t>
            </a:fld>
            <a:endParaRPr lang="en-US"/>
          </a:p>
        </p:txBody>
      </p:sp>
    </p:spTree>
    <p:extLst>
      <p:ext uri="{BB962C8B-B14F-4D97-AF65-F5344CB8AC3E}">
        <p14:creationId xmlns:p14="http://schemas.microsoft.com/office/powerpoint/2010/main" val="12945306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862230-187B-4C54-F7FC-127B9AD1D6DF}"/>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Identifying reusable components</a:t>
            </a:r>
          </a:p>
        </p:txBody>
      </p:sp>
      <p:sp>
        <p:nvSpPr>
          <p:cNvPr id="4" name="Content Placeholder 3">
            <a:extLst>
              <a:ext uri="{FF2B5EF4-FFF2-40B4-BE49-F238E27FC236}">
                <a16:creationId xmlns:a16="http://schemas.microsoft.com/office/drawing/2014/main" id="{2099AE95-C25E-2E60-CE70-497CEE47702A}"/>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GB" sz="1400" b="1" dirty="0"/>
              <a:t>Component Identification</a:t>
            </a:r>
          </a:p>
          <a:p>
            <a:pPr marL="0" lvl="1" indent="0">
              <a:buNone/>
            </a:pPr>
            <a:r>
              <a:rPr lang="en-GB" sz="1400" dirty="0"/>
              <a:t>Identifying reusable components in the current application UI can streamline the development process for its React implementation.</a:t>
            </a:r>
          </a:p>
          <a:p>
            <a:pPr marL="0" indent="0">
              <a:spcBef>
                <a:spcPts val="2500"/>
              </a:spcBef>
              <a:buNone/>
            </a:pPr>
            <a:r>
              <a:rPr lang="en-GB" sz="1400" b="1" dirty="0"/>
              <a:t>Time Saving Benefits</a:t>
            </a:r>
          </a:p>
          <a:p>
            <a:pPr marL="0" lvl="1" indent="0">
              <a:buNone/>
            </a:pPr>
            <a:r>
              <a:rPr lang="en-GB" sz="1400" dirty="0"/>
              <a:t>Reusing components saves development time and resources, allowing for quicker project completion.</a:t>
            </a:r>
          </a:p>
          <a:p>
            <a:pPr marL="0" indent="0">
              <a:spcBef>
                <a:spcPts val="2500"/>
              </a:spcBef>
              <a:buNone/>
            </a:pPr>
            <a:r>
              <a:rPr lang="en-GB" sz="1400" b="1" dirty="0"/>
              <a:t>Consistent User Interface</a:t>
            </a:r>
          </a:p>
          <a:p>
            <a:pPr marL="0" lvl="1" indent="0">
              <a:buNone/>
            </a:pPr>
            <a:r>
              <a:rPr lang="en-GB" sz="1400" dirty="0"/>
              <a:t>Using reusable components enhances the consistency of the user interface across applications, leading to a better user experience.</a:t>
            </a:r>
            <a:endParaRPr lang="en-CH" sz="1400" dirty="0"/>
          </a:p>
        </p:txBody>
      </p:sp>
      <p:pic>
        <p:nvPicPr>
          <p:cNvPr id="5" name="Content Placeholder 4" descr="Cloud computing concept isolated on white background">
            <a:extLst>
              <a:ext uri="{FF2B5EF4-FFF2-40B4-BE49-F238E27FC236}">
                <a16:creationId xmlns:a16="http://schemas.microsoft.com/office/drawing/2014/main" id="{F03AEB90-F0CC-4E93-9D1F-1FBD9716EF53}"/>
              </a:ext>
            </a:extLst>
          </p:cNvPr>
          <p:cNvPicPr>
            <a:picLocks noGrp="1" noChangeAspect="1"/>
          </p:cNvPicPr>
          <p:nvPr>
            <p:ph sz="half" idx="1"/>
          </p:nvPr>
        </p:nvPicPr>
        <p:blipFill>
          <a:blip r:embed="rId3"/>
          <a:srcRect l="22464" r="24536"/>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6D259C0B-6A97-B58B-2F35-3B8BA2F2BE20}"/>
              </a:ext>
            </a:extLst>
          </p:cNvPr>
          <p:cNvSpPr>
            <a:spLocks noGrp="1"/>
          </p:cNvSpPr>
          <p:nvPr>
            <p:ph type="sldNum" sz="quarter" idx="12"/>
          </p:nvPr>
        </p:nvSpPr>
        <p:spPr/>
        <p:txBody>
          <a:bodyPr/>
          <a:lstStyle/>
          <a:p>
            <a:fld id="{CC057153-B650-4DEB-B370-79DDCFDCE934}" type="slidenum">
              <a:rPr lang="en-US" smtClean="0"/>
              <a:t>19</a:t>
            </a:fld>
            <a:endParaRPr lang="en-US"/>
          </a:p>
        </p:txBody>
      </p:sp>
    </p:spTree>
    <p:extLst>
      <p:ext uri="{BB962C8B-B14F-4D97-AF65-F5344CB8AC3E}">
        <p14:creationId xmlns:p14="http://schemas.microsoft.com/office/powerpoint/2010/main" val="40240214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0CE700A5-EB44-D5CA-B557-CF2C29EE6E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Content Placeholder 5" descr="A screenshot of a computer&#10;&#10;AI-generated content may be incorrect.">
            <a:extLst>
              <a:ext uri="{FF2B5EF4-FFF2-40B4-BE49-F238E27FC236}">
                <a16:creationId xmlns:a16="http://schemas.microsoft.com/office/drawing/2014/main" id="{63AA1EA0-E347-B04B-1E9E-E3D554A43E16}"/>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tretch>
            <a:fillRect/>
          </a:stretch>
        </p:blipFill>
        <p:spPr>
          <a:xfrm>
            <a:off x="0" y="0"/>
            <a:ext cx="7195145" cy="2500313"/>
          </a:xfrm>
          <a:prstGeom prst="rect">
            <a:avLst/>
          </a:prstGeom>
        </p:spPr>
      </p:pic>
      <p:pic>
        <p:nvPicPr>
          <p:cNvPr id="8" name="Content Placeholder 7" descr="A screenshot of a computer&#10;&#10;AI-generated content may be incorrect.">
            <a:extLst>
              <a:ext uri="{FF2B5EF4-FFF2-40B4-BE49-F238E27FC236}">
                <a16:creationId xmlns:a16="http://schemas.microsoft.com/office/drawing/2014/main" id="{6072C16F-F900-D27C-984E-D3316B3F1593}"/>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3089863" y="1178719"/>
            <a:ext cx="6467794" cy="3735151"/>
          </a:xfrm>
          <a:prstGeom prst="rect">
            <a:avLst/>
          </a:prstGeom>
        </p:spPr>
      </p:pic>
      <p:pic>
        <p:nvPicPr>
          <p:cNvPr id="10" name="Picture 9" descr="A screenshot of a computer&#10;&#10;AI-generated content may be incorrect.">
            <a:extLst>
              <a:ext uri="{FF2B5EF4-FFF2-40B4-BE49-F238E27FC236}">
                <a16:creationId xmlns:a16="http://schemas.microsoft.com/office/drawing/2014/main" id="{9A463662-5218-9D7D-DA48-77D3B0BF148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49708" y="3429000"/>
            <a:ext cx="6042292" cy="3429000"/>
          </a:xfrm>
          <a:prstGeom prst="rect">
            <a:avLst/>
          </a:prstGeom>
        </p:spPr>
      </p:pic>
      <p:sp>
        <p:nvSpPr>
          <p:cNvPr id="2" name="Slide Number Placeholder 1">
            <a:extLst>
              <a:ext uri="{FF2B5EF4-FFF2-40B4-BE49-F238E27FC236}">
                <a16:creationId xmlns:a16="http://schemas.microsoft.com/office/drawing/2014/main" id="{F09BC5DD-9833-6F71-C453-C4443CB4BBC2}"/>
              </a:ext>
            </a:extLst>
          </p:cNvPr>
          <p:cNvSpPr>
            <a:spLocks noGrp="1"/>
          </p:cNvSpPr>
          <p:nvPr>
            <p:ph type="sldNum" sz="quarter" idx="12"/>
          </p:nvPr>
        </p:nvSpPr>
        <p:spPr/>
        <p:txBody>
          <a:bodyPr/>
          <a:lstStyle/>
          <a:p>
            <a:fld id="{CC057153-B650-4DEB-B370-79DDCFDCE934}" type="slidenum">
              <a:rPr lang="en-US" smtClean="0"/>
              <a:t>20</a:t>
            </a:fld>
            <a:endParaRPr lang="en-US"/>
          </a:p>
        </p:txBody>
      </p:sp>
    </p:spTree>
    <p:extLst>
      <p:ext uri="{BB962C8B-B14F-4D97-AF65-F5344CB8AC3E}">
        <p14:creationId xmlns:p14="http://schemas.microsoft.com/office/powerpoint/2010/main" val="41977214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896F4-C501-D959-7D01-C78A9F657617}"/>
              </a:ext>
            </a:extLst>
          </p:cNvPr>
          <p:cNvSpPr>
            <a:spLocks noGrp="1"/>
          </p:cNvSpPr>
          <p:nvPr>
            <p:ph type="title"/>
          </p:nvPr>
        </p:nvSpPr>
        <p:spPr/>
        <p:txBody>
          <a:bodyPr/>
          <a:lstStyle/>
          <a:p>
            <a:r>
              <a:rPr lang="en-GB" dirty="0"/>
              <a:t>Reusable components to accelerate the migration</a:t>
            </a:r>
            <a:endParaRPr lang="en-CH" dirty="0"/>
          </a:p>
        </p:txBody>
      </p:sp>
      <p:graphicFrame>
        <p:nvGraphicFramePr>
          <p:cNvPr id="6" name="Content Placeholder 2">
            <a:extLst>
              <a:ext uri="{FF2B5EF4-FFF2-40B4-BE49-F238E27FC236}">
                <a16:creationId xmlns:a16="http://schemas.microsoft.com/office/drawing/2014/main" id="{861EF2A3-59F6-D80C-F0F2-5476709FFADA}"/>
              </a:ext>
            </a:extLst>
          </p:cNvPr>
          <p:cNvGraphicFramePr>
            <a:graphicFrameLocks noGrp="1"/>
          </p:cNvGraphicFramePr>
          <p:nvPr>
            <p:ph sz="half" idx="1"/>
            <p:extLst>
              <p:ext uri="{D42A27DB-BD31-4B8C-83A1-F6EECF244321}">
                <p14:modId xmlns:p14="http://schemas.microsoft.com/office/powerpoint/2010/main" val="2526473808"/>
              </p:ext>
            </p:extLst>
          </p:nvPr>
        </p:nvGraphicFramePr>
        <p:xfrm>
          <a:off x="612648" y="1825625"/>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Content Placeholder 3">
            <a:extLst>
              <a:ext uri="{FF2B5EF4-FFF2-40B4-BE49-F238E27FC236}">
                <a16:creationId xmlns:a16="http://schemas.microsoft.com/office/drawing/2014/main" id="{227CB610-944B-7D98-5DC3-41ACB99E8582}"/>
              </a:ext>
            </a:extLst>
          </p:cNvPr>
          <p:cNvSpPr>
            <a:spLocks noGrp="1"/>
          </p:cNvSpPr>
          <p:nvPr>
            <p:ph sz="half" idx="2"/>
          </p:nvPr>
        </p:nvSpPr>
        <p:spPr/>
        <p:txBody>
          <a:bodyPr>
            <a:normAutofit/>
          </a:bodyPr>
          <a:lstStyle/>
          <a:p>
            <a:r>
              <a:rPr lang="en-US" dirty="0"/>
              <a:t>Autocomplete selector</a:t>
            </a:r>
          </a:p>
          <a:p>
            <a:r>
              <a:rPr lang="en-US" dirty="0"/>
              <a:t>Date picker</a:t>
            </a:r>
          </a:p>
          <a:p>
            <a:r>
              <a:rPr lang="en-US" dirty="0"/>
              <a:t>Radio group</a:t>
            </a:r>
          </a:p>
          <a:p>
            <a:r>
              <a:rPr lang="en-US" dirty="0"/>
              <a:t>Field array (multiline)</a:t>
            </a:r>
          </a:p>
          <a:p>
            <a:r>
              <a:rPr lang="en-US" dirty="0"/>
              <a:t>Simple text input</a:t>
            </a:r>
          </a:p>
          <a:p>
            <a:r>
              <a:rPr lang="en-US" dirty="0"/>
              <a:t>…</a:t>
            </a:r>
            <a:endParaRPr lang="en-CH" dirty="0"/>
          </a:p>
        </p:txBody>
      </p:sp>
      <p:sp>
        <p:nvSpPr>
          <p:cNvPr id="3" name="Slide Number Placeholder 2">
            <a:extLst>
              <a:ext uri="{FF2B5EF4-FFF2-40B4-BE49-F238E27FC236}">
                <a16:creationId xmlns:a16="http://schemas.microsoft.com/office/drawing/2014/main" id="{B573F903-88C0-17A7-DC09-0CE8EB4DA40E}"/>
              </a:ext>
            </a:extLst>
          </p:cNvPr>
          <p:cNvSpPr>
            <a:spLocks noGrp="1"/>
          </p:cNvSpPr>
          <p:nvPr>
            <p:ph type="sldNum" sz="quarter" idx="12"/>
          </p:nvPr>
        </p:nvSpPr>
        <p:spPr/>
        <p:txBody>
          <a:bodyPr/>
          <a:lstStyle/>
          <a:p>
            <a:fld id="{CC057153-B650-4DEB-B370-79DDCFDCE934}" type="slidenum">
              <a:rPr lang="en-US" smtClean="0"/>
              <a:t>21</a:t>
            </a:fld>
            <a:endParaRPr lang="en-US"/>
          </a:p>
        </p:txBody>
      </p:sp>
    </p:spTree>
    <p:extLst>
      <p:ext uri="{BB962C8B-B14F-4D97-AF65-F5344CB8AC3E}">
        <p14:creationId xmlns:p14="http://schemas.microsoft.com/office/powerpoint/2010/main" val="36268209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6045A2F-5D9B-ED52-C265-30DC6E5B549E}"/>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Understanding MUI Components</a:t>
            </a:r>
          </a:p>
        </p:txBody>
      </p:sp>
      <p:sp>
        <p:nvSpPr>
          <p:cNvPr id="4" name="Content Placeholder 3">
            <a:extLst>
              <a:ext uri="{FF2B5EF4-FFF2-40B4-BE49-F238E27FC236}">
                <a16:creationId xmlns:a16="http://schemas.microsoft.com/office/drawing/2014/main" id="{9989CAE5-BEB7-EA59-3FD4-CACB371253EB}"/>
              </a:ext>
            </a:extLst>
          </p:cNvPr>
          <p:cNvSpPr>
            <a:spLocks noGrp="1"/>
          </p:cNvSpPr>
          <p:nvPr>
            <p:ph sz="half" idx="2"/>
          </p:nvPr>
        </p:nvSpPr>
        <p:spPr>
          <a:xfrm>
            <a:off x="612648" y="2584058"/>
            <a:ext cx="4621553" cy="3159018"/>
          </a:xfrm>
        </p:spPr>
        <p:txBody>
          <a:bodyPr vert="horz" lIns="91440" tIns="45720" rIns="91440" bIns="45720" rtlCol="0">
            <a:normAutofit/>
          </a:bodyPr>
          <a:lstStyle/>
          <a:p>
            <a:r>
              <a:rPr lang="en-US" sz="1800"/>
              <a:t>MUI components are pre-built UI components for React applications.</a:t>
            </a:r>
          </a:p>
          <a:p>
            <a:r>
              <a:rPr lang="en-US" sz="1800"/>
              <a:t>They follow Material Design principles for a consistent look.</a:t>
            </a:r>
          </a:p>
          <a:p>
            <a:r>
              <a:rPr lang="en-US" sz="1800"/>
              <a:t>MUI components enhance development speed and efficiency.</a:t>
            </a:r>
          </a:p>
        </p:txBody>
      </p:sp>
      <p:pic>
        <p:nvPicPr>
          <p:cNvPr id="5" name="Content Placeholder 4" descr="A stack of blue paper">
            <a:extLst>
              <a:ext uri="{FF2B5EF4-FFF2-40B4-BE49-F238E27FC236}">
                <a16:creationId xmlns:a16="http://schemas.microsoft.com/office/drawing/2014/main" id="{B0B55345-C607-420A-AF45-0F4F62E4192D}"/>
              </a:ext>
            </a:extLst>
          </p:cNvPr>
          <p:cNvPicPr>
            <a:picLocks noGrp="1" noChangeAspect="1"/>
          </p:cNvPicPr>
          <p:nvPr>
            <p:ph sz="half" idx="1"/>
          </p:nvPr>
        </p:nvPicPr>
        <p:blipFill>
          <a:blip r:embed="rId3"/>
          <a:stretch>
            <a:fillRect/>
          </a:stretch>
        </p:blipFill>
        <p:spPr>
          <a:xfrm>
            <a:off x="5691261" y="1480640"/>
            <a:ext cx="5837780" cy="3896719"/>
          </a:xfrm>
          <a:prstGeom prst="rect">
            <a:avLst/>
          </a:prstGeom>
        </p:spPr>
      </p:pic>
      <p:sp>
        <p:nvSpPr>
          <p:cNvPr id="3" name="Slide Number Placeholder 2">
            <a:extLst>
              <a:ext uri="{FF2B5EF4-FFF2-40B4-BE49-F238E27FC236}">
                <a16:creationId xmlns:a16="http://schemas.microsoft.com/office/drawing/2014/main" id="{AE585CF4-4AFC-F6D3-253C-C0F579BDEBB3}"/>
              </a:ext>
            </a:extLst>
          </p:cNvPr>
          <p:cNvSpPr>
            <a:spLocks noGrp="1"/>
          </p:cNvSpPr>
          <p:nvPr>
            <p:ph type="sldNum" sz="quarter" idx="12"/>
          </p:nvPr>
        </p:nvSpPr>
        <p:spPr/>
        <p:txBody>
          <a:bodyPr/>
          <a:lstStyle/>
          <a:p>
            <a:fld id="{CC057153-B650-4DEB-B370-79DDCFDCE934}" type="slidenum">
              <a:rPr lang="en-US" smtClean="0"/>
              <a:t>22</a:t>
            </a:fld>
            <a:endParaRPr lang="en-US"/>
          </a:p>
        </p:txBody>
      </p:sp>
    </p:spTree>
    <p:extLst>
      <p:ext uri="{BB962C8B-B14F-4D97-AF65-F5344CB8AC3E}">
        <p14:creationId xmlns:p14="http://schemas.microsoft.com/office/powerpoint/2010/main" val="33344468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3ABD80-BC70-46E9-4AD3-AA8E527DC3AF}"/>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sz="2800" b="1" kern="1200">
                <a:solidFill>
                  <a:schemeClr val="tx1"/>
                </a:solidFill>
                <a:latin typeface="+mj-lt"/>
                <a:ea typeface="+mj-ea"/>
                <a:cs typeface="+mj-cs"/>
              </a:rPr>
              <a:t>Understanding Material Design Principles</a:t>
            </a:r>
          </a:p>
        </p:txBody>
      </p:sp>
      <p:sp>
        <p:nvSpPr>
          <p:cNvPr id="4" name="Content Placeholder 3">
            <a:extLst>
              <a:ext uri="{FF2B5EF4-FFF2-40B4-BE49-F238E27FC236}">
                <a16:creationId xmlns:a16="http://schemas.microsoft.com/office/drawing/2014/main" id="{6B616F7D-0DED-5869-EFD0-9C9010913CDB}"/>
              </a:ext>
            </a:extLst>
          </p:cNvPr>
          <p:cNvSpPr>
            <a:spLocks noGrp="1"/>
          </p:cNvSpPr>
          <p:nvPr>
            <p:ph sz="half" idx="2"/>
          </p:nvPr>
        </p:nvSpPr>
        <p:spPr>
          <a:xfrm>
            <a:off x="612648" y="2584058"/>
            <a:ext cx="4621553" cy="3159018"/>
          </a:xfrm>
        </p:spPr>
        <p:txBody>
          <a:bodyPr vert="horz" lIns="91440" tIns="45720" rIns="91440" bIns="45720" rtlCol="0">
            <a:normAutofit/>
          </a:bodyPr>
          <a:lstStyle/>
          <a:p>
            <a:pPr>
              <a:lnSpc>
                <a:spcPct val="110000"/>
              </a:lnSpc>
            </a:pPr>
            <a:r>
              <a:rPr lang="en-US" sz="1500" dirty="0"/>
              <a:t>Material Design is a design language developed by Google.</a:t>
            </a:r>
          </a:p>
          <a:p>
            <a:pPr>
              <a:lnSpc>
                <a:spcPct val="110000"/>
              </a:lnSpc>
            </a:pPr>
            <a:r>
              <a:rPr lang="en-US" sz="1500" dirty="0"/>
              <a:t>It focuses on creating a cohesive and intuitive UI experience.</a:t>
            </a:r>
          </a:p>
          <a:p>
            <a:pPr>
              <a:lnSpc>
                <a:spcPct val="110000"/>
              </a:lnSpc>
            </a:pPr>
            <a:r>
              <a:rPr lang="en-US" sz="1500" dirty="0"/>
              <a:t>Encourages responsive animations and transitions for interactivity.</a:t>
            </a:r>
          </a:p>
          <a:p>
            <a:pPr>
              <a:lnSpc>
                <a:spcPct val="110000"/>
              </a:lnSpc>
            </a:pPr>
            <a:r>
              <a:rPr lang="en-US" sz="1500" dirty="0"/>
              <a:t>Promotes accessibility and user-friendly design standards.</a:t>
            </a:r>
          </a:p>
        </p:txBody>
      </p:sp>
      <p:pic>
        <p:nvPicPr>
          <p:cNvPr id="5" name="Content Placeholder 4" descr="A sheet of blank paper on a desk.">
            <a:extLst>
              <a:ext uri="{FF2B5EF4-FFF2-40B4-BE49-F238E27FC236}">
                <a16:creationId xmlns:a16="http://schemas.microsoft.com/office/drawing/2014/main" id="{C19329CB-363B-4A1A-9631-DA67887CD4F8}"/>
              </a:ext>
            </a:extLst>
          </p:cNvPr>
          <p:cNvPicPr>
            <a:picLocks noGrp="1" noChangeAspect="1"/>
          </p:cNvPicPr>
          <p:nvPr>
            <p:ph sz="half" idx="1"/>
          </p:nvPr>
        </p:nvPicPr>
        <p:blipFill>
          <a:blip r:embed="rId3"/>
          <a:stretch>
            <a:fillRect/>
          </a:stretch>
        </p:blipFill>
        <p:spPr>
          <a:xfrm>
            <a:off x="6938231" y="1114923"/>
            <a:ext cx="3343840" cy="4628153"/>
          </a:xfrm>
          <a:prstGeom prst="rect">
            <a:avLst/>
          </a:prstGeom>
        </p:spPr>
      </p:pic>
      <p:sp>
        <p:nvSpPr>
          <p:cNvPr id="3" name="Slide Number Placeholder 2">
            <a:extLst>
              <a:ext uri="{FF2B5EF4-FFF2-40B4-BE49-F238E27FC236}">
                <a16:creationId xmlns:a16="http://schemas.microsoft.com/office/drawing/2014/main" id="{8810867D-AE3F-73B5-7BD7-1051F748C0D1}"/>
              </a:ext>
            </a:extLst>
          </p:cNvPr>
          <p:cNvSpPr>
            <a:spLocks noGrp="1"/>
          </p:cNvSpPr>
          <p:nvPr>
            <p:ph type="sldNum" sz="quarter" idx="12"/>
          </p:nvPr>
        </p:nvSpPr>
        <p:spPr/>
        <p:txBody>
          <a:bodyPr/>
          <a:lstStyle/>
          <a:p>
            <a:fld id="{CC057153-B650-4DEB-B370-79DDCFDCE934}" type="slidenum">
              <a:rPr lang="en-US" smtClean="0"/>
              <a:t>23</a:t>
            </a:fld>
            <a:endParaRPr lang="en-US"/>
          </a:p>
        </p:txBody>
      </p:sp>
    </p:spTree>
    <p:extLst>
      <p:ext uri="{BB962C8B-B14F-4D97-AF65-F5344CB8AC3E}">
        <p14:creationId xmlns:p14="http://schemas.microsoft.com/office/powerpoint/2010/main" val="36002231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51A63B-819C-26B2-E5D1-8A9E3A25CCE8}"/>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a:solidFill>
                  <a:schemeClr val="tx1"/>
                </a:solidFill>
                <a:latin typeface="+mj-lt"/>
                <a:ea typeface="+mj-ea"/>
                <a:cs typeface="+mj-cs"/>
              </a:rPr>
              <a:t>Benefits of Using MUI Components</a:t>
            </a:r>
          </a:p>
        </p:txBody>
      </p:sp>
      <p:sp>
        <p:nvSpPr>
          <p:cNvPr id="4" name="Content Placeholder 3">
            <a:extLst>
              <a:ext uri="{FF2B5EF4-FFF2-40B4-BE49-F238E27FC236}">
                <a16:creationId xmlns:a16="http://schemas.microsoft.com/office/drawing/2014/main" id="{4D18BA06-C26F-9D73-C882-1FED4C1AEC67}"/>
              </a:ext>
            </a:extLst>
          </p:cNvPr>
          <p:cNvSpPr>
            <a:spLocks noGrp="1"/>
          </p:cNvSpPr>
          <p:nvPr>
            <p:ph sz="half" idx="2"/>
          </p:nvPr>
        </p:nvSpPr>
        <p:spPr>
          <a:xfrm>
            <a:off x="612648" y="2584058"/>
            <a:ext cx="4621553" cy="3159018"/>
          </a:xfrm>
        </p:spPr>
        <p:txBody>
          <a:bodyPr vert="horz" lIns="91440" tIns="45720" rIns="91440" bIns="45720" rtlCol="0">
            <a:normAutofit/>
          </a:bodyPr>
          <a:lstStyle/>
          <a:p>
            <a:r>
              <a:rPr lang="en-US" sz="1800"/>
              <a:t>Increases productivity with ready-to-use components.</a:t>
            </a:r>
          </a:p>
          <a:p>
            <a:r>
              <a:rPr lang="en-US" sz="1800"/>
              <a:t>Promotes design consistency across applications.</a:t>
            </a:r>
          </a:p>
          <a:p>
            <a:r>
              <a:rPr lang="en-US" sz="1800"/>
              <a:t>Customizable themes enhance brand identity.</a:t>
            </a:r>
          </a:p>
        </p:txBody>
      </p:sp>
      <p:pic>
        <p:nvPicPr>
          <p:cNvPr id="5" name="Content Placeholder 4" descr="hand tools on blackboard">
            <a:extLst>
              <a:ext uri="{FF2B5EF4-FFF2-40B4-BE49-F238E27FC236}">
                <a16:creationId xmlns:a16="http://schemas.microsoft.com/office/drawing/2014/main" id="{06D957A8-3A3E-4805-A3A2-57B1832A5D99}"/>
              </a:ext>
            </a:extLst>
          </p:cNvPr>
          <p:cNvPicPr>
            <a:picLocks noGrp="1" noChangeAspect="1"/>
          </p:cNvPicPr>
          <p:nvPr>
            <p:ph sz="half" idx="1"/>
          </p:nvPr>
        </p:nvPicPr>
        <p:blipFill>
          <a:blip r:embed="rId3"/>
          <a:stretch>
            <a:fillRect/>
          </a:stretch>
        </p:blipFill>
        <p:spPr>
          <a:xfrm>
            <a:off x="5691261" y="1480640"/>
            <a:ext cx="5837780" cy="3896718"/>
          </a:xfrm>
          <a:prstGeom prst="rect">
            <a:avLst/>
          </a:prstGeom>
        </p:spPr>
      </p:pic>
      <p:sp>
        <p:nvSpPr>
          <p:cNvPr id="3" name="Slide Number Placeholder 2">
            <a:extLst>
              <a:ext uri="{FF2B5EF4-FFF2-40B4-BE49-F238E27FC236}">
                <a16:creationId xmlns:a16="http://schemas.microsoft.com/office/drawing/2014/main" id="{19DA226C-1C72-FB97-D62D-816B9BB0EF59}"/>
              </a:ext>
            </a:extLst>
          </p:cNvPr>
          <p:cNvSpPr>
            <a:spLocks noGrp="1"/>
          </p:cNvSpPr>
          <p:nvPr>
            <p:ph type="sldNum" sz="quarter" idx="12"/>
          </p:nvPr>
        </p:nvSpPr>
        <p:spPr/>
        <p:txBody>
          <a:bodyPr/>
          <a:lstStyle/>
          <a:p>
            <a:fld id="{CC057153-B650-4DEB-B370-79DDCFDCE934}" type="slidenum">
              <a:rPr lang="en-US" smtClean="0"/>
              <a:t>24</a:t>
            </a:fld>
            <a:endParaRPr lang="en-US"/>
          </a:p>
        </p:txBody>
      </p:sp>
    </p:spTree>
    <p:extLst>
      <p:ext uri="{BB962C8B-B14F-4D97-AF65-F5344CB8AC3E}">
        <p14:creationId xmlns:p14="http://schemas.microsoft.com/office/powerpoint/2010/main" val="193458945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902AB1-5A5F-CA6F-8622-EC2DA19E9796}"/>
              </a:ext>
            </a:extLst>
          </p:cNvPr>
          <p:cNvSpPr>
            <a:spLocks noGrp="1"/>
          </p:cNvSpPr>
          <p:nvPr>
            <p:ph type="title"/>
          </p:nvPr>
        </p:nvSpPr>
        <p:spPr>
          <a:xfrm>
            <a:off x="612648" y="1114923"/>
            <a:ext cx="4621553" cy="1360728"/>
          </a:xfrm>
        </p:spPr>
        <p:txBody>
          <a:bodyPr vert="horz" lIns="91440" tIns="45720" rIns="91440" bIns="45720" rtlCol="0" anchor="b">
            <a:normAutofit/>
          </a:bodyPr>
          <a:lstStyle/>
          <a:p>
            <a:r>
              <a:rPr lang="en-US" b="1" kern="1200" dirty="0">
                <a:solidFill>
                  <a:schemeClr val="tx1"/>
                </a:solidFill>
                <a:latin typeface="+mj-lt"/>
                <a:ea typeface="+mj-ea"/>
                <a:cs typeface="+mj-cs"/>
                <a:hlinkClick r:id="rId3"/>
              </a:rPr>
              <a:t>Storybook</a:t>
            </a:r>
            <a:endParaRPr lang="en-US" b="1" kern="1200" dirty="0">
              <a:solidFill>
                <a:schemeClr val="tx1"/>
              </a:solidFill>
              <a:latin typeface="+mj-lt"/>
              <a:ea typeface="+mj-ea"/>
              <a:cs typeface="+mj-cs"/>
            </a:endParaRPr>
          </a:p>
        </p:txBody>
      </p:sp>
      <p:sp>
        <p:nvSpPr>
          <p:cNvPr id="3" name="Content Placeholder 2">
            <a:extLst>
              <a:ext uri="{FF2B5EF4-FFF2-40B4-BE49-F238E27FC236}">
                <a16:creationId xmlns:a16="http://schemas.microsoft.com/office/drawing/2014/main" id="{C60E513E-C56B-C4DA-34E2-2C95BE7FFFB7}"/>
              </a:ext>
            </a:extLst>
          </p:cNvPr>
          <p:cNvSpPr>
            <a:spLocks noGrp="1"/>
          </p:cNvSpPr>
          <p:nvPr>
            <p:ph sz="half" idx="1"/>
          </p:nvPr>
        </p:nvSpPr>
        <p:spPr>
          <a:xfrm>
            <a:off x="612648" y="2584058"/>
            <a:ext cx="4621553" cy="3159018"/>
          </a:xfrm>
        </p:spPr>
        <p:txBody>
          <a:bodyPr vert="horz" lIns="91440" tIns="45720" rIns="91440" bIns="45720" rtlCol="0">
            <a:normAutofit/>
          </a:bodyPr>
          <a:lstStyle/>
          <a:p>
            <a:pPr marL="228600">
              <a:lnSpc>
                <a:spcPct val="110000"/>
              </a:lnSpc>
              <a:spcBef>
                <a:spcPts val="1000"/>
              </a:spcBef>
            </a:pPr>
            <a:r>
              <a:rPr lang="en-US" sz="1100" b="1" dirty="0">
                <a:effectLst/>
              </a:rPr>
              <a:t>Centralized Repository</a:t>
            </a:r>
            <a:r>
              <a:rPr lang="en-US" sz="1100" dirty="0">
                <a:effectLst/>
              </a:rPr>
              <a:t>: All core components are stored in one location for easy access by developers across teams.</a:t>
            </a:r>
          </a:p>
          <a:p>
            <a:pPr marL="228600">
              <a:lnSpc>
                <a:spcPct val="110000"/>
              </a:lnSpc>
              <a:spcBef>
                <a:spcPts val="1000"/>
              </a:spcBef>
            </a:pPr>
            <a:r>
              <a:rPr lang="en-US" sz="1100" b="1" dirty="0">
                <a:effectLst/>
              </a:rPr>
              <a:t>Reusability</a:t>
            </a:r>
            <a:r>
              <a:rPr lang="en-US" sz="1100" dirty="0">
                <a:effectLst/>
              </a:rPr>
              <a:t>: Storybook enables modular components, minimizing redundancy and accelerating development.</a:t>
            </a:r>
          </a:p>
          <a:p>
            <a:pPr marL="228600">
              <a:lnSpc>
                <a:spcPct val="110000"/>
              </a:lnSpc>
              <a:spcBef>
                <a:spcPts val="1000"/>
              </a:spcBef>
            </a:pPr>
            <a:r>
              <a:rPr lang="en-US" sz="1100" b="1" dirty="0">
                <a:effectLst/>
              </a:rPr>
              <a:t>Design Consistency</a:t>
            </a:r>
            <a:r>
              <a:rPr lang="en-US" sz="1100" dirty="0">
                <a:effectLst/>
              </a:rPr>
              <a:t>: A unified component library ensures a consistent appearance across all documents, improving user experience.</a:t>
            </a:r>
          </a:p>
          <a:p>
            <a:pPr marL="228600">
              <a:lnSpc>
                <a:spcPct val="110000"/>
              </a:lnSpc>
              <a:spcBef>
                <a:spcPts val="1000"/>
              </a:spcBef>
            </a:pPr>
            <a:r>
              <a:rPr lang="en-US" sz="1100" b="1" dirty="0">
                <a:effectLst/>
              </a:rPr>
              <a:t>Collaborative Environment</a:t>
            </a:r>
            <a:r>
              <a:rPr lang="en-US" sz="1100" dirty="0">
                <a:effectLst/>
              </a:rPr>
              <a:t>: Storybook offers a space for developers to experiment with and configure components, promoting innovation and teamwork.</a:t>
            </a:r>
          </a:p>
          <a:p>
            <a:pPr marL="228600">
              <a:lnSpc>
                <a:spcPct val="110000"/>
              </a:lnSpc>
              <a:spcBef>
                <a:spcPts val="1000"/>
              </a:spcBef>
            </a:pPr>
            <a:r>
              <a:rPr lang="en-US" sz="1100" b="1" dirty="0">
                <a:effectLst/>
              </a:rPr>
              <a:t>Improved Documentation</a:t>
            </a:r>
            <a:r>
              <a:rPr lang="en-US" sz="1100" dirty="0">
                <a:effectLst/>
              </a:rPr>
              <a:t>: Each component comes with detailed documentation and examples, aiding developers in understanding and using them.</a:t>
            </a:r>
            <a:endParaRPr lang="en-US" sz="1100" dirty="0"/>
          </a:p>
        </p:txBody>
      </p:sp>
      <p:pic>
        <p:nvPicPr>
          <p:cNvPr id="6" name="Content Placeholder 5" descr="A screenshot of a computer&#10;&#10;AI-generated content may be incorrect.">
            <a:extLst>
              <a:ext uri="{FF2B5EF4-FFF2-40B4-BE49-F238E27FC236}">
                <a16:creationId xmlns:a16="http://schemas.microsoft.com/office/drawing/2014/main" id="{E9A23203-B3D0-0E50-0B23-E902453588B7}"/>
              </a:ext>
            </a:extLst>
          </p:cNvPr>
          <p:cNvPicPr>
            <a:picLocks noGrp="1" noChangeAspect="1"/>
          </p:cNvPicPr>
          <p:nvPr>
            <p:ph sz="half" idx="2"/>
          </p:nvPr>
        </p:nvPicPr>
        <p:blipFill>
          <a:blip r:embed="rId4">
            <a:extLst>
              <a:ext uri="{28A0092B-C50C-407E-A947-70E740481C1C}">
                <a14:useLocalDpi xmlns:a14="http://schemas.microsoft.com/office/drawing/2010/main" val="0"/>
              </a:ext>
            </a:extLst>
          </a:blip>
          <a:stretch>
            <a:fillRect/>
          </a:stretch>
        </p:blipFill>
        <p:spPr>
          <a:xfrm>
            <a:off x="5691261" y="1400371"/>
            <a:ext cx="5837780" cy="4057257"/>
          </a:xfrm>
          <a:prstGeom prst="rect">
            <a:avLst/>
          </a:prstGeom>
        </p:spPr>
      </p:pic>
      <p:sp>
        <p:nvSpPr>
          <p:cNvPr id="4" name="Slide Number Placeholder 3">
            <a:extLst>
              <a:ext uri="{FF2B5EF4-FFF2-40B4-BE49-F238E27FC236}">
                <a16:creationId xmlns:a16="http://schemas.microsoft.com/office/drawing/2014/main" id="{925E7472-4263-3101-D295-AC84D4029590}"/>
              </a:ext>
            </a:extLst>
          </p:cNvPr>
          <p:cNvSpPr>
            <a:spLocks noGrp="1"/>
          </p:cNvSpPr>
          <p:nvPr>
            <p:ph type="sldNum" sz="quarter" idx="12"/>
          </p:nvPr>
        </p:nvSpPr>
        <p:spPr/>
        <p:txBody>
          <a:bodyPr/>
          <a:lstStyle/>
          <a:p>
            <a:fld id="{CC057153-B650-4DEB-B370-79DDCFDCE934}" type="slidenum">
              <a:rPr lang="en-US" smtClean="0"/>
              <a:t>25</a:t>
            </a:fld>
            <a:endParaRPr lang="en-US"/>
          </a:p>
        </p:txBody>
      </p:sp>
    </p:spTree>
    <p:extLst>
      <p:ext uri="{BB962C8B-B14F-4D97-AF65-F5344CB8AC3E}">
        <p14:creationId xmlns:p14="http://schemas.microsoft.com/office/powerpoint/2010/main" val="34567281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descr="A diagram of a project structure&#10;&#10;AI-generated content may be incorrect.">
            <a:extLst>
              <a:ext uri="{FF2B5EF4-FFF2-40B4-BE49-F238E27FC236}">
                <a16:creationId xmlns:a16="http://schemas.microsoft.com/office/drawing/2014/main" id="{AD8A97C8-4A31-9750-6C3C-1429C20140A7}"/>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rcRect l="1034" r="11423" b="2"/>
          <a:stretch/>
        </p:blipFill>
        <p:spPr>
          <a:xfrm>
            <a:off x="3086100" y="419100"/>
            <a:ext cx="6019800" cy="6033902"/>
          </a:xfrm>
          <a:prstGeom prst="rect">
            <a:avLst/>
          </a:prstGeom>
        </p:spPr>
      </p:pic>
      <p:sp>
        <p:nvSpPr>
          <p:cNvPr id="2" name="Slide Number Placeholder 1">
            <a:extLst>
              <a:ext uri="{FF2B5EF4-FFF2-40B4-BE49-F238E27FC236}">
                <a16:creationId xmlns:a16="http://schemas.microsoft.com/office/drawing/2014/main" id="{C1AA6F7A-1B0B-1945-AAF3-440297CFA644}"/>
              </a:ext>
            </a:extLst>
          </p:cNvPr>
          <p:cNvSpPr>
            <a:spLocks noGrp="1"/>
          </p:cNvSpPr>
          <p:nvPr>
            <p:ph type="sldNum" sz="quarter" idx="12"/>
          </p:nvPr>
        </p:nvSpPr>
        <p:spPr/>
        <p:txBody>
          <a:bodyPr/>
          <a:lstStyle/>
          <a:p>
            <a:fld id="{CC057153-B650-4DEB-B370-79DDCFDCE934}" type="slidenum">
              <a:rPr lang="en-US" smtClean="0"/>
              <a:t>26</a:t>
            </a:fld>
            <a:endParaRPr lang="en-US"/>
          </a:p>
        </p:txBody>
      </p:sp>
    </p:spTree>
    <p:extLst>
      <p:ext uri="{BB962C8B-B14F-4D97-AF65-F5344CB8AC3E}">
        <p14:creationId xmlns:p14="http://schemas.microsoft.com/office/powerpoint/2010/main" val="130314138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he top view of trees">
            <a:extLst>
              <a:ext uri="{FF2B5EF4-FFF2-40B4-BE49-F238E27FC236}">
                <a16:creationId xmlns:a16="http://schemas.microsoft.com/office/drawing/2014/main" id="{01673AC9-C2A2-A0DF-FB3F-3F9CD6268017}"/>
              </a:ext>
            </a:extLst>
          </p:cNvPr>
          <p:cNvPicPr>
            <a:picLocks noChangeAspect="1"/>
          </p:cNvPicPr>
          <p:nvPr/>
        </p:nvPicPr>
        <p:blipFill>
          <a:blip r:embed="rId3"/>
          <a:srcRect t="12048" b="3682"/>
          <a:stretch/>
        </p:blipFill>
        <p:spPr>
          <a:xfrm>
            <a:off x="20" y="-1"/>
            <a:ext cx="12191980" cy="6858001"/>
          </a:xfrm>
          <a:prstGeom prst="rect">
            <a:avLst/>
          </a:prstGeom>
        </p:spPr>
      </p:pic>
      <p:sp>
        <p:nvSpPr>
          <p:cNvPr id="15" name="Rectangle 14">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BBEC6B-36DF-925E-758A-94F8FBB89612}"/>
              </a:ext>
            </a:extLst>
          </p:cNvPr>
          <p:cNvSpPr>
            <a:spLocks noGrp="1"/>
          </p:cNvSpPr>
          <p:nvPr>
            <p:ph type="ctrTitle"/>
          </p:nvPr>
        </p:nvSpPr>
        <p:spPr>
          <a:xfrm>
            <a:off x="626918" y="3429000"/>
            <a:ext cx="4506064" cy="1888742"/>
          </a:xfrm>
        </p:spPr>
        <p:txBody>
          <a:bodyPr>
            <a:normAutofit/>
          </a:bodyPr>
          <a:lstStyle/>
          <a:p>
            <a:pPr algn="l"/>
            <a:r>
              <a:rPr lang="en-CH">
                <a:solidFill>
                  <a:srgbClr val="FFFFFF"/>
                </a:solidFill>
              </a:rPr>
              <a:t>Migration Path from JSP to React</a:t>
            </a:r>
          </a:p>
        </p:txBody>
      </p:sp>
      <p:sp>
        <p:nvSpPr>
          <p:cNvPr id="3" name="Slide Number Placeholder 2">
            <a:extLst>
              <a:ext uri="{FF2B5EF4-FFF2-40B4-BE49-F238E27FC236}">
                <a16:creationId xmlns:a16="http://schemas.microsoft.com/office/drawing/2014/main" id="{CA433CD1-19D5-23B1-AFC0-6DBF8AF535A4}"/>
              </a:ext>
            </a:extLst>
          </p:cNvPr>
          <p:cNvSpPr>
            <a:spLocks noGrp="1"/>
          </p:cNvSpPr>
          <p:nvPr>
            <p:ph type="sldNum" sz="quarter" idx="12"/>
          </p:nvPr>
        </p:nvSpPr>
        <p:spPr/>
        <p:txBody>
          <a:bodyPr/>
          <a:lstStyle/>
          <a:p>
            <a:fld id="{CC057153-B650-4DEB-B370-79DDCFDCE934}" type="slidenum">
              <a:rPr lang="en-US" smtClean="0"/>
              <a:t>27</a:t>
            </a:fld>
            <a:endParaRPr lang="en-US"/>
          </a:p>
        </p:txBody>
      </p:sp>
    </p:spTree>
    <p:extLst>
      <p:ext uri="{BB962C8B-B14F-4D97-AF65-F5344CB8AC3E}">
        <p14:creationId xmlns:p14="http://schemas.microsoft.com/office/powerpoint/2010/main" val="3268881085"/>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20CE451-818C-E63D-258B-234B6C543D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6871047-F920-DC27-D861-4FBF0BA01336}"/>
              </a:ext>
            </a:extLst>
          </p:cNvPr>
          <p:cNvSpPr>
            <a:spLocks noGrp="1"/>
          </p:cNvSpPr>
          <p:nvPr>
            <p:ph type="title"/>
          </p:nvPr>
        </p:nvSpPr>
        <p:spPr>
          <a:xfrm>
            <a:off x="612648" y="603504"/>
            <a:ext cx="4361686" cy="1527048"/>
          </a:xfrm>
        </p:spPr>
        <p:txBody>
          <a:bodyPr vert="horz" lIns="91440" tIns="45720" rIns="91440" bIns="45720" rtlCol="0" anchor="b">
            <a:normAutofit/>
          </a:bodyPr>
          <a:lstStyle/>
          <a:p>
            <a:r>
              <a:rPr lang="en-US" sz="3100" b="1" kern="1200" dirty="0">
                <a:solidFill>
                  <a:schemeClr val="tx1"/>
                </a:solidFill>
                <a:latin typeface="+mj-lt"/>
                <a:ea typeface="+mj-ea"/>
                <a:cs typeface="+mj-cs"/>
              </a:rPr>
              <a:t>Gradual replacement of JSP pages with React components</a:t>
            </a:r>
          </a:p>
        </p:txBody>
      </p:sp>
      <p:sp>
        <p:nvSpPr>
          <p:cNvPr id="4" name="Content Placeholder 3">
            <a:extLst>
              <a:ext uri="{FF2B5EF4-FFF2-40B4-BE49-F238E27FC236}">
                <a16:creationId xmlns:a16="http://schemas.microsoft.com/office/drawing/2014/main" id="{F8CB5F68-1BCA-81B7-0823-EFBE89220CD4}"/>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4361687" cy="4096512"/>
          </a:xfrm>
        </p:spPr>
        <p:txBody>
          <a:bodyPr>
            <a:normAutofit/>
          </a:bodyPr>
          <a:lstStyle/>
          <a:p>
            <a:pPr marL="0" indent="0">
              <a:spcBef>
                <a:spcPts val="2500"/>
              </a:spcBef>
              <a:buNone/>
            </a:pPr>
            <a:r>
              <a:rPr lang="en-GB" sz="1400" b="1" dirty="0"/>
              <a:t>Incremental Replacement</a:t>
            </a:r>
          </a:p>
          <a:p>
            <a:pPr marL="0" lvl="1" indent="0">
              <a:buNone/>
            </a:pPr>
            <a:r>
              <a:rPr lang="en-GB" sz="1400" dirty="0"/>
              <a:t>A gradual approach to replacing existing front-end pages enables a smoother transition to React SPA front-end, minimizing disruptions.</a:t>
            </a:r>
          </a:p>
          <a:p>
            <a:pPr marL="0" indent="0">
              <a:spcBef>
                <a:spcPts val="2500"/>
              </a:spcBef>
              <a:buNone/>
            </a:pPr>
            <a:r>
              <a:rPr lang="en-GB" sz="1400" b="1" dirty="0"/>
              <a:t>Testing and Validation</a:t>
            </a:r>
          </a:p>
          <a:p>
            <a:pPr marL="0" lvl="1" indent="0">
              <a:buNone/>
            </a:pPr>
            <a:r>
              <a:rPr lang="en-GB" sz="1400" dirty="0"/>
              <a:t>This method allows for early user testing testing and validation of React UI, ensuring functionality before full CERN-wide release.</a:t>
            </a:r>
          </a:p>
          <a:p>
            <a:pPr marL="0" indent="0">
              <a:spcBef>
                <a:spcPts val="2500"/>
              </a:spcBef>
              <a:buNone/>
            </a:pPr>
            <a:r>
              <a:rPr lang="en-GB" sz="1400" b="1" dirty="0"/>
              <a:t>Minimizing Disruptions</a:t>
            </a:r>
          </a:p>
          <a:p>
            <a:pPr marL="0" lvl="1" indent="0">
              <a:buNone/>
            </a:pPr>
            <a:r>
              <a:rPr lang="en-GB" sz="1400" dirty="0"/>
              <a:t>By adopting this approach, developers can avoid major disruptions to the application, maintaining user experience.</a:t>
            </a:r>
            <a:endParaRPr lang="en-CH" sz="1400" dirty="0"/>
          </a:p>
        </p:txBody>
      </p:sp>
      <p:pic>
        <p:nvPicPr>
          <p:cNvPr id="12" name="Picture 11" descr="migration from JSP to React">
            <a:extLst>
              <a:ext uri="{FF2B5EF4-FFF2-40B4-BE49-F238E27FC236}">
                <a16:creationId xmlns:a16="http://schemas.microsoft.com/office/drawing/2014/main" id="{DB407C6B-3A5C-9244-597A-AA4384F7CEA0}"/>
              </a:ext>
            </a:extLst>
          </p:cNvPr>
          <p:cNvPicPr>
            <a:picLocks noChangeAspect="1"/>
          </p:cNvPicPr>
          <p:nvPr/>
        </p:nvPicPr>
        <p:blipFill>
          <a:blip r:embed="rId3"/>
          <a:srcRect l="7067"/>
          <a:stretch/>
        </p:blipFill>
        <p:spPr>
          <a:xfrm>
            <a:off x="5818632" y="-1"/>
            <a:ext cx="6373368" cy="6858001"/>
          </a:xfrm>
          <a:prstGeom prst="rect">
            <a:avLst/>
          </a:prstGeom>
        </p:spPr>
      </p:pic>
      <p:sp>
        <p:nvSpPr>
          <p:cNvPr id="3" name="Slide Number Placeholder 2">
            <a:extLst>
              <a:ext uri="{FF2B5EF4-FFF2-40B4-BE49-F238E27FC236}">
                <a16:creationId xmlns:a16="http://schemas.microsoft.com/office/drawing/2014/main" id="{716EBDBE-A10D-0871-73FA-EE050B8B34B7}"/>
              </a:ext>
            </a:extLst>
          </p:cNvPr>
          <p:cNvSpPr>
            <a:spLocks noGrp="1"/>
          </p:cNvSpPr>
          <p:nvPr>
            <p:ph type="sldNum" sz="quarter" idx="12"/>
          </p:nvPr>
        </p:nvSpPr>
        <p:spPr/>
        <p:txBody>
          <a:bodyPr/>
          <a:lstStyle/>
          <a:p>
            <a:fld id="{CC057153-B650-4DEB-B370-79DDCFDCE934}" type="slidenum">
              <a:rPr lang="en-US" smtClean="0"/>
              <a:t>28</a:t>
            </a:fld>
            <a:endParaRPr lang="en-US"/>
          </a:p>
        </p:txBody>
      </p:sp>
    </p:spTree>
    <p:extLst>
      <p:ext uri="{BB962C8B-B14F-4D97-AF65-F5344CB8AC3E}">
        <p14:creationId xmlns:p14="http://schemas.microsoft.com/office/powerpoint/2010/main" val="96421057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03916DE-0529-3A31-B279-824089EED188}"/>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300" b="1" kern="1200" dirty="0">
                <a:solidFill>
                  <a:schemeClr val="tx1"/>
                </a:solidFill>
                <a:latin typeface="+mj-lt"/>
                <a:ea typeface="+mj-ea"/>
                <a:cs typeface="+mj-cs"/>
              </a:rPr>
              <a:t>Handling Legacy Code and Ensuring Compatibility</a:t>
            </a:r>
          </a:p>
        </p:txBody>
      </p:sp>
      <p:sp>
        <p:nvSpPr>
          <p:cNvPr id="4" name="Content Placeholder 3">
            <a:extLst>
              <a:ext uri="{FF2B5EF4-FFF2-40B4-BE49-F238E27FC236}">
                <a16:creationId xmlns:a16="http://schemas.microsoft.com/office/drawing/2014/main" id="{488B2497-358E-A7D2-BA70-38A57E0D7447}"/>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GB" sz="1400" b="1" dirty="0"/>
              <a:t>Careful Migration Process</a:t>
            </a:r>
          </a:p>
          <a:p>
            <a:pPr marL="0" lvl="1" indent="0">
              <a:buNone/>
            </a:pPr>
            <a:r>
              <a:rPr lang="en-GB" sz="1400" dirty="0"/>
              <a:t>Effective migration requires careful handling of legacy code to avoid disruptions in functionality.</a:t>
            </a:r>
          </a:p>
          <a:p>
            <a:pPr marL="0" indent="0">
              <a:spcBef>
                <a:spcPts val="2500"/>
              </a:spcBef>
              <a:buNone/>
            </a:pPr>
            <a:r>
              <a:rPr lang="en-GB" sz="1400" b="1" dirty="0"/>
              <a:t>Ensuring System Compatibility</a:t>
            </a:r>
          </a:p>
          <a:p>
            <a:pPr marL="0" lvl="1" indent="0">
              <a:buNone/>
            </a:pPr>
            <a:r>
              <a:rPr lang="en-GB" sz="1400" dirty="0"/>
              <a:t>Compatibility between old and new systems is crucial for seamless integration and user experience.</a:t>
            </a:r>
          </a:p>
          <a:p>
            <a:pPr marL="0" indent="0">
              <a:spcBef>
                <a:spcPts val="2500"/>
              </a:spcBef>
              <a:buNone/>
            </a:pPr>
            <a:r>
              <a:rPr lang="en-GB" sz="1400" b="1" dirty="0"/>
              <a:t>Service Layers and APIs</a:t>
            </a:r>
          </a:p>
          <a:p>
            <a:pPr marL="0" lvl="1" indent="0">
              <a:buNone/>
            </a:pPr>
            <a:r>
              <a:rPr lang="en-GB" sz="1400" dirty="0"/>
              <a:t>Creating service layers or APIs facilitates data access and interoperability between systems.</a:t>
            </a:r>
            <a:endParaRPr lang="en-CH" sz="1400" dirty="0"/>
          </a:p>
        </p:txBody>
      </p:sp>
      <p:pic>
        <p:nvPicPr>
          <p:cNvPr id="5" name="Content Placeholder 4" descr="Digital concept which shows abstract network and concept of security optimisation and internet technology  ">
            <a:extLst>
              <a:ext uri="{FF2B5EF4-FFF2-40B4-BE49-F238E27FC236}">
                <a16:creationId xmlns:a16="http://schemas.microsoft.com/office/drawing/2014/main" id="{00D2FA90-2961-4E09-AFBB-E588D70A2CE9}"/>
              </a:ext>
            </a:extLst>
          </p:cNvPr>
          <p:cNvPicPr>
            <a:picLocks noGrp="1" noChangeAspect="1"/>
          </p:cNvPicPr>
          <p:nvPr>
            <p:ph sz="half" idx="1"/>
          </p:nvPr>
        </p:nvPicPr>
        <p:blipFill>
          <a:blip r:embed="rId3"/>
          <a:srcRect l="25249" r="28817"/>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B407CA57-9D30-BE33-2334-E062A62F917B}"/>
              </a:ext>
            </a:extLst>
          </p:cNvPr>
          <p:cNvSpPr>
            <a:spLocks noGrp="1"/>
          </p:cNvSpPr>
          <p:nvPr>
            <p:ph type="sldNum" sz="quarter" idx="12"/>
          </p:nvPr>
        </p:nvSpPr>
        <p:spPr/>
        <p:txBody>
          <a:bodyPr/>
          <a:lstStyle/>
          <a:p>
            <a:fld id="{CC057153-B650-4DEB-B370-79DDCFDCE934}" type="slidenum">
              <a:rPr lang="en-US" smtClean="0"/>
              <a:t>29</a:t>
            </a:fld>
            <a:endParaRPr lang="en-US"/>
          </a:p>
        </p:txBody>
      </p:sp>
    </p:spTree>
    <p:extLst>
      <p:ext uri="{BB962C8B-B14F-4D97-AF65-F5344CB8AC3E}">
        <p14:creationId xmlns:p14="http://schemas.microsoft.com/office/powerpoint/2010/main" val="30729434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B1888B1-572B-AB43-8146-AC31D882CB98}"/>
              </a:ext>
            </a:extLst>
          </p:cNvPr>
          <p:cNvSpPr>
            <a:spLocks noGrp="1"/>
          </p:cNvSpPr>
          <p:nvPr>
            <p:ph type="ctrTitle"/>
          </p:nvPr>
        </p:nvSpPr>
        <p:spPr>
          <a:xfrm>
            <a:off x="7168896" y="1129554"/>
            <a:ext cx="4361688" cy="3475236"/>
          </a:xfrm>
        </p:spPr>
        <p:txBody>
          <a:bodyPr>
            <a:normAutofit/>
          </a:bodyPr>
          <a:lstStyle/>
          <a:p>
            <a:pPr algn="l"/>
            <a:r>
              <a:rPr lang="en-CH" sz="4200"/>
              <a:t>Code Examples and Practical Implementation</a:t>
            </a:r>
          </a:p>
        </p:txBody>
      </p:sp>
      <p:pic>
        <p:nvPicPr>
          <p:cNvPr id="9" name="Picture 8" descr="Computer script on a screen">
            <a:extLst>
              <a:ext uri="{FF2B5EF4-FFF2-40B4-BE49-F238E27FC236}">
                <a16:creationId xmlns:a16="http://schemas.microsoft.com/office/drawing/2014/main" id="{0976F84C-23EF-2FD0-9535-243190255074}"/>
              </a:ext>
            </a:extLst>
          </p:cNvPr>
          <p:cNvPicPr>
            <a:picLocks noChangeAspect="1"/>
          </p:cNvPicPr>
          <p:nvPr/>
        </p:nvPicPr>
        <p:blipFill>
          <a:blip r:embed="rId3"/>
          <a:srcRect r="35998" b="-2"/>
          <a:stretch/>
        </p:blipFill>
        <p:spPr>
          <a:xfrm>
            <a:off x="20" y="1"/>
            <a:ext cx="6575591" cy="6858000"/>
          </a:xfrm>
          <a:prstGeom prst="rect">
            <a:avLst/>
          </a:prstGeom>
        </p:spPr>
      </p:pic>
      <p:sp>
        <p:nvSpPr>
          <p:cNvPr id="3" name="Slide Number Placeholder 2">
            <a:extLst>
              <a:ext uri="{FF2B5EF4-FFF2-40B4-BE49-F238E27FC236}">
                <a16:creationId xmlns:a16="http://schemas.microsoft.com/office/drawing/2014/main" id="{9E9A2F80-5CF9-E80B-00AA-4E004D40DFAD}"/>
              </a:ext>
            </a:extLst>
          </p:cNvPr>
          <p:cNvSpPr>
            <a:spLocks noGrp="1"/>
          </p:cNvSpPr>
          <p:nvPr>
            <p:ph type="sldNum" sz="quarter" idx="12"/>
          </p:nvPr>
        </p:nvSpPr>
        <p:spPr/>
        <p:txBody>
          <a:bodyPr/>
          <a:lstStyle/>
          <a:p>
            <a:fld id="{CC057153-B650-4DEB-B370-79DDCFDCE934}" type="slidenum">
              <a:rPr lang="en-US" smtClean="0"/>
              <a:t>30</a:t>
            </a:fld>
            <a:endParaRPr lang="en-US"/>
          </a:p>
        </p:txBody>
      </p:sp>
    </p:spTree>
    <p:extLst>
      <p:ext uri="{BB962C8B-B14F-4D97-AF65-F5344CB8AC3E}">
        <p14:creationId xmlns:p14="http://schemas.microsoft.com/office/powerpoint/2010/main" val="416231652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D90B4DF-913F-6036-D1FB-E1F12DC3CAC6}"/>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Managing forms and user input in React</a:t>
            </a:r>
          </a:p>
        </p:txBody>
      </p:sp>
      <p:sp>
        <p:nvSpPr>
          <p:cNvPr id="4" name="Content Placeholder 3">
            <a:extLst>
              <a:ext uri="{FF2B5EF4-FFF2-40B4-BE49-F238E27FC236}">
                <a16:creationId xmlns:a16="http://schemas.microsoft.com/office/drawing/2014/main" id="{36100F2A-937C-13CC-2D74-D4256C4C3B1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GB" sz="1400" b="1" dirty="0"/>
              <a:t>Implementing Forms</a:t>
            </a:r>
          </a:p>
          <a:p>
            <a:pPr marL="0" lvl="1" indent="0">
              <a:buNone/>
            </a:pPr>
            <a:r>
              <a:rPr lang="en-GB" sz="1400" dirty="0"/>
              <a:t>We will discuss effective ways to implement forms in React applications, ensuring smooth user interactions.</a:t>
            </a:r>
          </a:p>
          <a:p>
            <a:pPr marL="0" indent="0">
              <a:spcBef>
                <a:spcPts val="2500"/>
              </a:spcBef>
              <a:buNone/>
            </a:pPr>
            <a:r>
              <a:rPr lang="en-GB" sz="1400" b="1" dirty="0"/>
              <a:t>Handling User Input</a:t>
            </a:r>
          </a:p>
          <a:p>
            <a:pPr marL="0" lvl="1" indent="0">
              <a:buNone/>
            </a:pPr>
            <a:r>
              <a:rPr lang="en-GB" sz="1400" dirty="0"/>
              <a:t>Learn how to handle user input effectively in React, making sure the application's state is updated accordingly.</a:t>
            </a:r>
            <a:endParaRPr lang="en-CH" sz="1400" dirty="0"/>
          </a:p>
        </p:txBody>
      </p:sp>
      <p:pic>
        <p:nvPicPr>
          <p:cNvPr id="5" name="Content Placeholder 4" descr="Young cute student drawing an atomic particle on screen">
            <a:extLst>
              <a:ext uri="{FF2B5EF4-FFF2-40B4-BE49-F238E27FC236}">
                <a16:creationId xmlns:a16="http://schemas.microsoft.com/office/drawing/2014/main" id="{956CAA18-8EF4-4B14-A02C-51A9B319755B}"/>
              </a:ext>
            </a:extLst>
          </p:cNvPr>
          <p:cNvPicPr>
            <a:picLocks noGrp="1" noChangeAspect="1"/>
          </p:cNvPicPr>
          <p:nvPr>
            <p:ph sz="half" idx="1"/>
          </p:nvPr>
        </p:nvPicPr>
        <p:blipFill>
          <a:blip r:embed="rId3"/>
          <a:srcRect l="9694" r="12005"/>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379C7E16-080B-ACC6-767C-AEA69C5833E9}"/>
              </a:ext>
            </a:extLst>
          </p:cNvPr>
          <p:cNvSpPr>
            <a:spLocks noGrp="1"/>
          </p:cNvSpPr>
          <p:nvPr>
            <p:ph type="sldNum" sz="quarter" idx="12"/>
          </p:nvPr>
        </p:nvSpPr>
        <p:spPr/>
        <p:txBody>
          <a:bodyPr/>
          <a:lstStyle/>
          <a:p>
            <a:fld id="{CC057153-B650-4DEB-B370-79DDCFDCE934}" type="slidenum">
              <a:rPr lang="en-US" smtClean="0"/>
              <a:t>31</a:t>
            </a:fld>
            <a:endParaRPr lang="en-US"/>
          </a:p>
        </p:txBody>
      </p:sp>
    </p:spTree>
    <p:extLst>
      <p:ext uri="{BB962C8B-B14F-4D97-AF65-F5344CB8AC3E}">
        <p14:creationId xmlns:p14="http://schemas.microsoft.com/office/powerpoint/2010/main" val="368381316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83EF673-20BF-F724-00C8-E8F35C1820C0}"/>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b="1" kern="1200" dirty="0">
                <a:solidFill>
                  <a:schemeClr val="tx1"/>
                </a:solidFill>
                <a:latin typeface="+mj-lt"/>
                <a:ea typeface="+mj-ea"/>
                <a:cs typeface="+mj-cs"/>
              </a:rPr>
              <a:t>Integrating React with existing backend services</a:t>
            </a:r>
          </a:p>
        </p:txBody>
      </p:sp>
      <p:sp>
        <p:nvSpPr>
          <p:cNvPr id="4" name="Content Placeholder 3">
            <a:extLst>
              <a:ext uri="{FF2B5EF4-FFF2-40B4-BE49-F238E27FC236}">
                <a16:creationId xmlns:a16="http://schemas.microsoft.com/office/drawing/2014/main" id="{3D2235BD-238E-BD6B-993E-0C543B2F316B}"/>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a:bodyPr>
          <a:lstStyle/>
          <a:p>
            <a:pPr marL="0" indent="0">
              <a:spcBef>
                <a:spcPts val="2500"/>
              </a:spcBef>
              <a:buNone/>
            </a:pPr>
            <a:r>
              <a:rPr lang="en-GB" sz="1400" b="1" dirty="0"/>
              <a:t>Making API Calls</a:t>
            </a:r>
          </a:p>
          <a:p>
            <a:pPr marL="0" lvl="1" indent="0">
              <a:buNone/>
            </a:pPr>
            <a:r>
              <a:rPr lang="en-GB" sz="1400" dirty="0"/>
              <a:t>Understanding how to make API calls is essential for data retrieval in a React application, ensuring data is fetched efficiently.</a:t>
            </a:r>
          </a:p>
          <a:p>
            <a:pPr marL="0" indent="0">
              <a:spcBef>
                <a:spcPts val="2500"/>
              </a:spcBef>
              <a:buNone/>
            </a:pPr>
            <a:r>
              <a:rPr lang="en-GB" sz="1400" b="1" dirty="0"/>
              <a:t>Handling Data Retrieval</a:t>
            </a:r>
          </a:p>
          <a:p>
            <a:pPr marL="0" lvl="1" indent="0">
              <a:buNone/>
            </a:pPr>
            <a:r>
              <a:rPr lang="en-GB" sz="1400" dirty="0"/>
              <a:t>Effectively handling data retrieval is crucial for managing the state in React applications and providing real-time updates to users.</a:t>
            </a:r>
            <a:endParaRPr lang="en-CH" sz="1400" dirty="0"/>
          </a:p>
        </p:txBody>
      </p:sp>
      <p:pic>
        <p:nvPicPr>
          <p:cNvPr id="5" name="Content Placeholder 4" descr="Top view of cubes connected with black lines">
            <a:extLst>
              <a:ext uri="{FF2B5EF4-FFF2-40B4-BE49-F238E27FC236}">
                <a16:creationId xmlns:a16="http://schemas.microsoft.com/office/drawing/2014/main" id="{27B0DB83-72F8-4567-AA25-165F73A29ADE}"/>
              </a:ext>
            </a:extLst>
          </p:cNvPr>
          <p:cNvPicPr>
            <a:picLocks noGrp="1" noChangeAspect="1"/>
          </p:cNvPicPr>
          <p:nvPr>
            <p:ph sz="half" idx="1"/>
          </p:nvPr>
        </p:nvPicPr>
        <p:blipFill>
          <a:blip r:embed="rId3"/>
          <a:srcRect l="28390" r="18610"/>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BF962670-2213-69BE-FD81-5C49A94B881F}"/>
              </a:ext>
            </a:extLst>
          </p:cNvPr>
          <p:cNvSpPr>
            <a:spLocks noGrp="1"/>
          </p:cNvSpPr>
          <p:nvPr>
            <p:ph type="sldNum" sz="quarter" idx="12"/>
          </p:nvPr>
        </p:nvSpPr>
        <p:spPr/>
        <p:txBody>
          <a:bodyPr/>
          <a:lstStyle/>
          <a:p>
            <a:fld id="{CC057153-B650-4DEB-B370-79DDCFDCE934}" type="slidenum">
              <a:rPr lang="en-US" smtClean="0"/>
              <a:t>32</a:t>
            </a:fld>
            <a:endParaRPr lang="en-US"/>
          </a:p>
        </p:txBody>
      </p:sp>
    </p:spTree>
    <p:extLst>
      <p:ext uri="{BB962C8B-B14F-4D97-AF65-F5344CB8AC3E}">
        <p14:creationId xmlns:p14="http://schemas.microsoft.com/office/powerpoint/2010/main" val="198414609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A32057F-F015-B1B2-4E3E-2307F8EFC9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43CE739-9CAA-F79B-A906-54106651A951}"/>
              </a:ext>
            </a:extLst>
          </p:cNvPr>
          <p:cNvSpPr>
            <a:spLocks noGrp="1"/>
          </p:cNvSpPr>
          <p:nvPr>
            <p:ph type="ctrTitle"/>
          </p:nvPr>
        </p:nvSpPr>
        <p:spPr>
          <a:xfrm>
            <a:off x="7168896" y="1129554"/>
            <a:ext cx="4361688" cy="3475236"/>
          </a:xfrm>
        </p:spPr>
        <p:txBody>
          <a:bodyPr>
            <a:normAutofit/>
          </a:bodyPr>
          <a:lstStyle/>
          <a:p>
            <a:pPr algn="l"/>
            <a:r>
              <a:rPr lang="en-CH" sz="5400"/>
              <a:t>Final Benefits of Migration</a:t>
            </a:r>
          </a:p>
        </p:txBody>
      </p:sp>
      <p:pic>
        <p:nvPicPr>
          <p:cNvPr id="9" name="Picture 8" descr="Time compass on hand">
            <a:extLst>
              <a:ext uri="{FF2B5EF4-FFF2-40B4-BE49-F238E27FC236}">
                <a16:creationId xmlns:a16="http://schemas.microsoft.com/office/drawing/2014/main" id="{61EF7BC7-B6A0-18A3-56D3-687C8E40EB3B}"/>
              </a:ext>
            </a:extLst>
          </p:cNvPr>
          <p:cNvPicPr>
            <a:picLocks noChangeAspect="1"/>
          </p:cNvPicPr>
          <p:nvPr/>
        </p:nvPicPr>
        <p:blipFill>
          <a:blip r:embed="rId3"/>
          <a:srcRect l="11740" r="24499"/>
          <a:stretch/>
        </p:blipFill>
        <p:spPr>
          <a:xfrm>
            <a:off x="20" y="1"/>
            <a:ext cx="6575591" cy="6858000"/>
          </a:xfrm>
          <a:prstGeom prst="rect">
            <a:avLst/>
          </a:prstGeom>
        </p:spPr>
      </p:pic>
      <p:sp>
        <p:nvSpPr>
          <p:cNvPr id="3" name="Slide Number Placeholder 2">
            <a:extLst>
              <a:ext uri="{FF2B5EF4-FFF2-40B4-BE49-F238E27FC236}">
                <a16:creationId xmlns:a16="http://schemas.microsoft.com/office/drawing/2014/main" id="{7E4E65F6-0E05-11F3-93CE-5A19798E71C5}"/>
              </a:ext>
            </a:extLst>
          </p:cNvPr>
          <p:cNvSpPr>
            <a:spLocks noGrp="1"/>
          </p:cNvSpPr>
          <p:nvPr>
            <p:ph type="sldNum" sz="quarter" idx="12"/>
          </p:nvPr>
        </p:nvSpPr>
        <p:spPr/>
        <p:txBody>
          <a:bodyPr/>
          <a:lstStyle/>
          <a:p>
            <a:fld id="{CC057153-B650-4DEB-B370-79DDCFDCE934}" type="slidenum">
              <a:rPr lang="en-US" smtClean="0"/>
              <a:t>33</a:t>
            </a:fld>
            <a:endParaRPr lang="en-US"/>
          </a:p>
        </p:txBody>
      </p:sp>
    </p:spTree>
    <p:extLst>
      <p:ext uri="{BB962C8B-B14F-4D97-AF65-F5344CB8AC3E}">
        <p14:creationId xmlns:p14="http://schemas.microsoft.com/office/powerpoint/2010/main" val="217783765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D25F07-FB36-F2D9-C60B-E5C3BE0C8B67}"/>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300" b="1" kern="1200" dirty="0">
                <a:solidFill>
                  <a:schemeClr val="tx1"/>
                </a:solidFill>
                <a:latin typeface="+mj-lt"/>
                <a:ea typeface="+mj-ea"/>
                <a:cs typeface="+mj-cs"/>
              </a:rPr>
              <a:t>Improved Development Workflow and Faster Iterations</a:t>
            </a:r>
          </a:p>
        </p:txBody>
      </p:sp>
      <p:sp>
        <p:nvSpPr>
          <p:cNvPr id="4" name="Content Placeholder 3">
            <a:extLst>
              <a:ext uri="{FF2B5EF4-FFF2-40B4-BE49-F238E27FC236}">
                <a16:creationId xmlns:a16="http://schemas.microsoft.com/office/drawing/2014/main" id="{E0E1BC2F-3ACF-DED7-750C-1D4FFDBE125F}"/>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fontScale="92500" lnSpcReduction="10000"/>
          </a:bodyPr>
          <a:lstStyle/>
          <a:p>
            <a:pPr marL="0" indent="0">
              <a:spcBef>
                <a:spcPts val="2500"/>
              </a:spcBef>
              <a:buNone/>
            </a:pPr>
            <a:r>
              <a:rPr lang="en-GB" sz="1400" b="1" dirty="0"/>
              <a:t>Component-Based Structure</a:t>
            </a:r>
          </a:p>
          <a:p>
            <a:pPr marL="0" lvl="1" indent="0">
              <a:buNone/>
            </a:pPr>
            <a:r>
              <a:rPr lang="en-GB" sz="1400" dirty="0" err="1"/>
              <a:t>React's</a:t>
            </a:r>
            <a:r>
              <a:rPr lang="en-GB" sz="1400" dirty="0"/>
              <a:t> component-based structure facilitates the development of scalable applications by organizing code into manageable and reusable parts.</a:t>
            </a:r>
            <a:endParaRPr lang="en-GB" sz="1400" b="1" dirty="0"/>
          </a:p>
          <a:p>
            <a:pPr marL="0" indent="0">
              <a:spcBef>
                <a:spcPts val="2500"/>
              </a:spcBef>
              <a:buNone/>
            </a:pPr>
            <a:r>
              <a:rPr lang="en-GB" sz="1400" b="1" dirty="0"/>
              <a:t>Efficient Workflow</a:t>
            </a:r>
          </a:p>
          <a:p>
            <a:pPr marL="0" lvl="1" indent="0">
              <a:buNone/>
            </a:pPr>
            <a:r>
              <a:rPr lang="en-GB" sz="1400" dirty="0"/>
              <a:t>React allows teams to streamline their development processes, reducing redundant tasks and increasing productivity.</a:t>
            </a:r>
          </a:p>
          <a:p>
            <a:pPr marL="0" indent="0">
              <a:spcBef>
                <a:spcPts val="2500"/>
              </a:spcBef>
              <a:buNone/>
            </a:pPr>
            <a:r>
              <a:rPr lang="en-GB" sz="1400" b="1" dirty="0"/>
              <a:t>Quicker Iterations</a:t>
            </a:r>
          </a:p>
          <a:p>
            <a:pPr marL="0" lvl="1" indent="0">
              <a:buNone/>
            </a:pPr>
            <a:r>
              <a:rPr lang="en-GB" sz="1400" dirty="0"/>
              <a:t>With </a:t>
            </a:r>
            <a:r>
              <a:rPr lang="en-GB" sz="1400" dirty="0" err="1"/>
              <a:t>React's</a:t>
            </a:r>
            <a:r>
              <a:rPr lang="en-GB" sz="1400" dirty="0"/>
              <a:t> component-based architecture, teams can implement changes more rapidly, leading to quicker iterations on projects.</a:t>
            </a:r>
          </a:p>
          <a:p>
            <a:pPr marL="0" indent="0">
              <a:spcBef>
                <a:spcPts val="2500"/>
              </a:spcBef>
              <a:buNone/>
            </a:pPr>
            <a:r>
              <a:rPr lang="en-GB" sz="1400" b="1" dirty="0"/>
              <a:t>Faster Time-to-Release</a:t>
            </a:r>
          </a:p>
          <a:p>
            <a:pPr marL="0" lvl="1" indent="0">
              <a:buNone/>
            </a:pPr>
            <a:r>
              <a:rPr lang="en-GB" sz="1400" dirty="0"/>
              <a:t>Adopting React enables faster deployment of new features, enhancing the speed at which products reach the market.</a:t>
            </a:r>
            <a:endParaRPr lang="en-CH" sz="1400" dirty="0"/>
          </a:p>
        </p:txBody>
      </p:sp>
      <p:pic>
        <p:nvPicPr>
          <p:cNvPr id="5" name="Content Placeholder 4" descr="People at the meeting desk">
            <a:extLst>
              <a:ext uri="{FF2B5EF4-FFF2-40B4-BE49-F238E27FC236}">
                <a16:creationId xmlns:a16="http://schemas.microsoft.com/office/drawing/2014/main" id="{3FABA734-76C0-421B-B7AD-7B1273C85E2B}"/>
              </a:ext>
            </a:extLst>
          </p:cNvPr>
          <p:cNvPicPr>
            <a:picLocks noGrp="1" noChangeAspect="1"/>
          </p:cNvPicPr>
          <p:nvPr>
            <p:ph sz="half" idx="1"/>
          </p:nvPr>
        </p:nvPicPr>
        <p:blipFill>
          <a:blip r:embed="rId3"/>
          <a:srcRect l="25898" r="34352"/>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3711C607-AB7F-A42F-308B-832E60F23388}"/>
              </a:ext>
            </a:extLst>
          </p:cNvPr>
          <p:cNvSpPr>
            <a:spLocks noGrp="1"/>
          </p:cNvSpPr>
          <p:nvPr>
            <p:ph type="sldNum" sz="quarter" idx="12"/>
          </p:nvPr>
        </p:nvSpPr>
        <p:spPr/>
        <p:txBody>
          <a:bodyPr/>
          <a:lstStyle/>
          <a:p>
            <a:fld id="{CC057153-B650-4DEB-B370-79DDCFDCE934}" type="slidenum">
              <a:rPr lang="en-US" smtClean="0"/>
              <a:t>34</a:t>
            </a:fld>
            <a:endParaRPr lang="en-US"/>
          </a:p>
        </p:txBody>
      </p:sp>
    </p:spTree>
    <p:extLst>
      <p:ext uri="{BB962C8B-B14F-4D97-AF65-F5344CB8AC3E}">
        <p14:creationId xmlns:p14="http://schemas.microsoft.com/office/powerpoint/2010/main" val="256024354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961259D-605E-E200-FF9F-7C8C71D7C8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485D7F-2467-90C7-CB06-4D5174801447}"/>
              </a:ext>
            </a:extLst>
          </p:cNvPr>
          <p:cNvSpPr>
            <a:spLocks noGrp="1"/>
          </p:cNvSpPr>
          <p:nvPr>
            <p:ph type="title"/>
          </p:nvPr>
        </p:nvSpPr>
        <p:spPr>
          <a:xfrm>
            <a:off x="612648" y="600074"/>
            <a:ext cx="6035040" cy="1529932"/>
          </a:xfrm>
        </p:spPr>
        <p:txBody>
          <a:bodyPr vert="horz" lIns="91440" tIns="45720" rIns="91440" bIns="45720" rtlCol="0" anchor="b">
            <a:normAutofit/>
          </a:bodyPr>
          <a:lstStyle/>
          <a:p>
            <a:r>
              <a:rPr lang="en-US" sz="3300" b="1" kern="1200" dirty="0">
                <a:solidFill>
                  <a:schemeClr val="tx1"/>
                </a:solidFill>
                <a:latin typeface="+mj-lt"/>
                <a:ea typeface="+mj-ea"/>
                <a:cs typeface="+mj-cs"/>
              </a:rPr>
              <a:t>Future-proofing the application with modern technologies</a:t>
            </a:r>
          </a:p>
        </p:txBody>
      </p:sp>
      <p:sp>
        <p:nvSpPr>
          <p:cNvPr id="4" name="Content Placeholder 3">
            <a:extLst>
              <a:ext uri="{FF2B5EF4-FFF2-40B4-BE49-F238E27FC236}">
                <a16:creationId xmlns:a16="http://schemas.microsoft.com/office/drawing/2014/main" id="{0E02F176-E434-BDAB-6BC4-31B0F7F7930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12647" y="2212848"/>
            <a:ext cx="6035041" cy="4096512"/>
          </a:xfrm>
        </p:spPr>
        <p:txBody>
          <a:bodyPr>
            <a:normAutofit fontScale="92500" lnSpcReduction="10000"/>
          </a:bodyPr>
          <a:lstStyle/>
          <a:p>
            <a:pPr marL="0" indent="0">
              <a:spcBef>
                <a:spcPts val="2500"/>
              </a:spcBef>
              <a:buNone/>
            </a:pPr>
            <a:r>
              <a:rPr lang="en-GB" sz="1400" b="1" dirty="0"/>
              <a:t>Scalability Benefits</a:t>
            </a:r>
          </a:p>
          <a:p>
            <a:pPr marL="0" lvl="1" indent="0">
              <a:buNone/>
            </a:pPr>
            <a:r>
              <a:rPr lang="en-GB" sz="1400" dirty="0"/>
              <a:t>As applications grow, </a:t>
            </a:r>
            <a:r>
              <a:rPr lang="en-GB" sz="1400" dirty="0" err="1"/>
              <a:t>React's</a:t>
            </a:r>
            <a:r>
              <a:rPr lang="en-GB" sz="1400" dirty="0"/>
              <a:t> architecture supports scalability, enabling teams to better manage complex features.</a:t>
            </a:r>
            <a:endParaRPr lang="en-CH" sz="1400" dirty="0"/>
          </a:p>
          <a:p>
            <a:pPr marL="0" indent="0">
              <a:spcBef>
                <a:spcPts val="2500"/>
              </a:spcBef>
              <a:buNone/>
            </a:pPr>
            <a:r>
              <a:rPr lang="en-GB" sz="1400" b="1" dirty="0"/>
              <a:t>Easier Updates</a:t>
            </a:r>
          </a:p>
          <a:p>
            <a:pPr marL="0" lvl="1" indent="0">
              <a:buNone/>
            </a:pPr>
            <a:r>
              <a:rPr lang="en-GB" sz="1400" dirty="0"/>
              <a:t>With React, developers can update individual components, allowing for efficient changes without disrupting the entire application.</a:t>
            </a:r>
          </a:p>
          <a:p>
            <a:pPr marL="0" indent="0">
              <a:spcBef>
                <a:spcPts val="2500"/>
              </a:spcBef>
              <a:buNone/>
            </a:pPr>
            <a:r>
              <a:rPr lang="en-GB" sz="1400" b="1" dirty="0"/>
              <a:t>Relevance of Modern Technologies</a:t>
            </a:r>
          </a:p>
          <a:p>
            <a:pPr marL="0" lvl="1" indent="0">
              <a:buNone/>
            </a:pPr>
            <a:r>
              <a:rPr lang="en-GB" sz="1400" dirty="0"/>
              <a:t>Adopting modern technologies ensures that the application stays relevant in an ever-evolving tech landscape.</a:t>
            </a:r>
          </a:p>
          <a:p>
            <a:pPr marL="0" indent="0">
              <a:spcBef>
                <a:spcPts val="2500"/>
              </a:spcBef>
              <a:buNone/>
            </a:pPr>
            <a:r>
              <a:rPr lang="en-GB" sz="1400" b="1" dirty="0"/>
              <a:t>Adaptability to Changes</a:t>
            </a:r>
          </a:p>
          <a:p>
            <a:pPr marL="0" lvl="1" indent="0">
              <a:buNone/>
            </a:pPr>
            <a:r>
              <a:rPr lang="en-GB" sz="1400" dirty="0"/>
              <a:t>Using contemporary frameworks allows for quick adaptation to changes in user needs and technology trends.</a:t>
            </a:r>
            <a:endParaRPr lang="en-CH" sz="1400" dirty="0"/>
          </a:p>
        </p:txBody>
      </p:sp>
      <p:pic>
        <p:nvPicPr>
          <p:cNvPr id="5" name="Content Placeholder 4" descr="Laptop, smart phone and computer service on digital background">
            <a:extLst>
              <a:ext uri="{FF2B5EF4-FFF2-40B4-BE49-F238E27FC236}">
                <a16:creationId xmlns:a16="http://schemas.microsoft.com/office/drawing/2014/main" id="{B034D056-DD6D-4E42-8AEA-5FA5ABDFFD20}"/>
              </a:ext>
            </a:extLst>
          </p:cNvPr>
          <p:cNvPicPr>
            <a:picLocks noGrp="1" noChangeAspect="1"/>
          </p:cNvPicPr>
          <p:nvPr>
            <p:ph sz="half" idx="1"/>
          </p:nvPr>
        </p:nvPicPr>
        <p:blipFill>
          <a:blip r:embed="rId3"/>
          <a:srcRect l="12069" r="17265"/>
          <a:stretch/>
        </p:blipFill>
        <p:spPr>
          <a:xfrm>
            <a:off x="7345680" y="10"/>
            <a:ext cx="4846320" cy="6857990"/>
          </a:xfrm>
          <a:prstGeom prst="rect">
            <a:avLst/>
          </a:prstGeom>
        </p:spPr>
      </p:pic>
      <p:sp>
        <p:nvSpPr>
          <p:cNvPr id="3" name="Slide Number Placeholder 2">
            <a:extLst>
              <a:ext uri="{FF2B5EF4-FFF2-40B4-BE49-F238E27FC236}">
                <a16:creationId xmlns:a16="http://schemas.microsoft.com/office/drawing/2014/main" id="{F890F28A-430A-92AD-4B40-14499EA2E8E5}"/>
              </a:ext>
            </a:extLst>
          </p:cNvPr>
          <p:cNvSpPr>
            <a:spLocks noGrp="1"/>
          </p:cNvSpPr>
          <p:nvPr>
            <p:ph type="sldNum" sz="quarter" idx="12"/>
          </p:nvPr>
        </p:nvSpPr>
        <p:spPr/>
        <p:txBody>
          <a:bodyPr/>
          <a:lstStyle/>
          <a:p>
            <a:fld id="{CC057153-B650-4DEB-B370-79DDCFDCE934}" type="slidenum">
              <a:rPr lang="en-US" smtClean="0"/>
              <a:t>35</a:t>
            </a:fld>
            <a:endParaRPr lang="en-US"/>
          </a:p>
        </p:txBody>
      </p:sp>
    </p:spTree>
    <p:extLst>
      <p:ext uri="{BB962C8B-B14F-4D97-AF65-F5344CB8AC3E}">
        <p14:creationId xmlns:p14="http://schemas.microsoft.com/office/powerpoint/2010/main" val="251563710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0B98925-0550-1AFB-C1DC-02792400FB7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02AC5F-8964-CCD4-7BFD-7535B08454B7}"/>
              </a:ext>
            </a:extLst>
          </p:cNvPr>
          <p:cNvSpPr>
            <a:spLocks noGrp="1"/>
          </p:cNvSpPr>
          <p:nvPr>
            <p:ph type="title"/>
          </p:nvPr>
        </p:nvSpPr>
        <p:spPr>
          <a:xfrm>
            <a:off x="327593" y="340661"/>
            <a:ext cx="7326472" cy="787897"/>
          </a:xfrm>
        </p:spPr>
        <p:txBody>
          <a:bodyPr vert="horz" wrap="square" lIns="91440" tIns="45720" rIns="91440" bIns="45720" rtlCol="0" anchor="b">
            <a:normAutofit/>
          </a:bodyPr>
          <a:lstStyle/>
          <a:p>
            <a:r>
              <a:rPr lang="en-US" sz="3700"/>
              <a:t>Case study subject (updated)</a:t>
            </a:r>
          </a:p>
        </p:txBody>
      </p:sp>
      <p:pic>
        <p:nvPicPr>
          <p:cNvPr id="6" name="Content Placeholder 5" descr="A screenshot of a computer&#10;&#10;AI-generated content may be incorrect.">
            <a:extLst>
              <a:ext uri="{FF2B5EF4-FFF2-40B4-BE49-F238E27FC236}">
                <a16:creationId xmlns:a16="http://schemas.microsoft.com/office/drawing/2014/main" id="{B6900CE6-B077-F730-C1E0-DB94D4B7966B}"/>
              </a:ext>
            </a:extLst>
          </p:cNvPr>
          <p:cNvPicPr>
            <a:picLocks noGrp="1" noChangeAspect="1"/>
          </p:cNvPicPr>
          <p:nvPr>
            <p:ph sz="half" idx="1"/>
          </p:nvPr>
        </p:nvPicPr>
        <p:blipFill>
          <a:blip r:embed="rId2">
            <a:extLst>
              <a:ext uri="{28A0092B-C50C-407E-A947-70E740481C1C}">
                <a14:useLocalDpi xmlns:a14="http://schemas.microsoft.com/office/drawing/2010/main" val="0"/>
              </a:ext>
            </a:extLst>
          </a:blip>
          <a:srcRect l="197" r="-1" b="-1"/>
          <a:stretch/>
        </p:blipFill>
        <p:spPr>
          <a:xfrm>
            <a:off x="20" y="1238596"/>
            <a:ext cx="12191979" cy="5619404"/>
          </a:xfrm>
          <a:prstGeom prst="rect">
            <a:avLst/>
          </a:prstGeom>
        </p:spPr>
      </p:pic>
      <p:sp>
        <p:nvSpPr>
          <p:cNvPr id="3" name="Slide Number Placeholder 2">
            <a:extLst>
              <a:ext uri="{FF2B5EF4-FFF2-40B4-BE49-F238E27FC236}">
                <a16:creationId xmlns:a16="http://schemas.microsoft.com/office/drawing/2014/main" id="{BDA7D07E-FCA5-8492-8441-D64E0CA74254}"/>
              </a:ext>
            </a:extLst>
          </p:cNvPr>
          <p:cNvSpPr>
            <a:spLocks noGrp="1"/>
          </p:cNvSpPr>
          <p:nvPr>
            <p:ph type="sldNum" sz="quarter" idx="12"/>
          </p:nvPr>
        </p:nvSpPr>
        <p:spPr/>
        <p:txBody>
          <a:bodyPr/>
          <a:lstStyle/>
          <a:p>
            <a:fld id="{CC057153-B650-4DEB-B370-79DDCFDCE934}" type="slidenum">
              <a:rPr lang="en-US" smtClean="0"/>
              <a:t>36</a:t>
            </a:fld>
            <a:endParaRPr lang="en-US"/>
          </a:p>
        </p:txBody>
      </p:sp>
    </p:spTree>
    <p:extLst>
      <p:ext uri="{BB962C8B-B14F-4D97-AF65-F5344CB8AC3E}">
        <p14:creationId xmlns:p14="http://schemas.microsoft.com/office/powerpoint/2010/main" val="20231076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2144BBAF-39FE-1A0E-3D68-F573CDBC101B}"/>
              </a:ext>
            </a:extLst>
          </p:cNvPr>
          <p:cNvSpPr>
            <a:spLocks noGrp="1"/>
          </p:cNvSpPr>
          <p:nvPr>
            <p:ph type="title"/>
          </p:nvPr>
        </p:nvSpPr>
        <p:spPr>
          <a:xfrm>
            <a:off x="612648" y="1847088"/>
            <a:ext cx="7344336" cy="1133856"/>
          </a:xfrm>
        </p:spPr>
        <p:txBody>
          <a:bodyPr anchor="b">
            <a:normAutofit/>
          </a:bodyPr>
          <a:lstStyle/>
          <a:p>
            <a:r>
              <a:rPr lang="en-CH" sz="6000"/>
              <a:t>Conclusion</a:t>
            </a:r>
          </a:p>
        </p:txBody>
      </p:sp>
      <p:graphicFrame>
        <p:nvGraphicFramePr>
          <p:cNvPr id="9" name="Content Placeholder 2">
            <a:extLst>
              <a:ext uri="{FF2B5EF4-FFF2-40B4-BE49-F238E27FC236}">
                <a16:creationId xmlns:a16="http://schemas.microsoft.com/office/drawing/2014/main" id="{5C326585-1A5E-83D4-EEF3-F66AD5882129}"/>
              </a:ext>
            </a:extLst>
          </p:cNvPr>
          <p:cNvGraphicFramePr>
            <a:graphicFrameLocks noGrp="1"/>
          </p:cNvGraphicFramePr>
          <p:nvPr>
            <p:ph idx="1"/>
            <p:extLst>
              <p:ext uri="{D42A27DB-BD31-4B8C-83A1-F6EECF244321}">
                <p14:modId xmlns:p14="http://schemas.microsoft.com/office/powerpoint/2010/main" val="183749643"/>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612646" y="3593592"/>
          <a:ext cx="10890504" cy="25124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Slide Number Placeholder 2">
            <a:extLst>
              <a:ext uri="{FF2B5EF4-FFF2-40B4-BE49-F238E27FC236}">
                <a16:creationId xmlns:a16="http://schemas.microsoft.com/office/drawing/2014/main" id="{ABDB69D4-FC2B-2EE5-9192-E6660C75BD2C}"/>
              </a:ext>
            </a:extLst>
          </p:cNvPr>
          <p:cNvSpPr>
            <a:spLocks noGrp="1"/>
          </p:cNvSpPr>
          <p:nvPr>
            <p:ph type="sldNum" sz="quarter" idx="12"/>
          </p:nvPr>
        </p:nvSpPr>
        <p:spPr/>
        <p:txBody>
          <a:bodyPr/>
          <a:lstStyle/>
          <a:p>
            <a:fld id="{CC057153-B650-4DEB-B370-79DDCFDCE934}" type="slidenum">
              <a:rPr lang="en-US" smtClean="0"/>
              <a:t>37</a:t>
            </a:fld>
            <a:endParaRPr lang="en-US"/>
          </a:p>
        </p:txBody>
      </p:sp>
    </p:spTree>
    <p:extLst>
      <p:ext uri="{BB962C8B-B14F-4D97-AF65-F5344CB8AC3E}">
        <p14:creationId xmlns:p14="http://schemas.microsoft.com/office/powerpoint/2010/main" val="3093089129"/>
      </p:ext>
    </p:extLst>
  </p:cSld>
  <p:clrMapOvr>
    <a:overrideClrMapping bg1="dk1" tx1="lt1" bg2="dk2" tx2="lt2" accent1="accent1" accent2="accent2" accent3="accent3" accent4="accent4" accent5="accent5" accent6="accent6" hlink="hlink" folHlink="folHlink"/>
  </p:clrMapOvr>
  <p:transition>
    <p:fade/>
  </p:transition>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116</TotalTime>
  <Words>2663</Words>
  <Application>Microsoft Office PowerPoint</Application>
  <PresentationFormat>Widescreen</PresentationFormat>
  <Paragraphs>264</Paragraphs>
  <Slides>37</Slides>
  <Notes>29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37</vt:i4>
      </vt:variant>
    </vt:vector>
  </HeadingPairs>
  <TitlesOfParts>
    <vt:vector size="42" baseType="lpstr">
      <vt:lpstr>Aptos</vt:lpstr>
      <vt:lpstr>Arial</vt:lpstr>
      <vt:lpstr>Calisto MT</vt:lpstr>
      <vt:lpstr>Neue Haas Grotesk Text Pro</vt:lpstr>
      <vt:lpstr>VanillaVTI</vt:lpstr>
      <vt:lpstr>Modernizing Legacy Code:  A Case Study of React Implementation at CERN</vt:lpstr>
      <vt:lpstr>Introducing Myself</vt:lpstr>
      <vt:lpstr>PowerPoint Presentation</vt:lpstr>
      <vt:lpstr>Agenda Items</vt:lpstr>
      <vt:lpstr>Case study subject</vt:lpstr>
      <vt:lpstr>Introduction to React and its Benefits</vt:lpstr>
      <vt:lpstr>Understanding React</vt:lpstr>
      <vt:lpstr>Overview of React</vt:lpstr>
      <vt:lpstr>Overview of JSP</vt:lpstr>
      <vt:lpstr>Advantages over static HTML and JSP templates</vt:lpstr>
      <vt:lpstr>Core Concepts of React</vt:lpstr>
      <vt:lpstr>Components and JSX</vt:lpstr>
      <vt:lpstr>State and Props</vt:lpstr>
      <vt:lpstr>Intoduction to hooks</vt:lpstr>
      <vt:lpstr>Key Considerations for Migration</vt:lpstr>
      <vt:lpstr>Analyzing the existing monolithic application</vt:lpstr>
      <vt:lpstr>Application codebase</vt:lpstr>
      <vt:lpstr>PowerPoint Presentation</vt:lpstr>
      <vt:lpstr>Identifying reusable components</vt:lpstr>
      <vt:lpstr>PowerPoint Presentation</vt:lpstr>
      <vt:lpstr>Reusable components to accelerate the migration</vt:lpstr>
      <vt:lpstr>Understanding MUI Components</vt:lpstr>
      <vt:lpstr>Understanding Material Design Principles</vt:lpstr>
      <vt:lpstr>Benefits of Using MUI Components</vt:lpstr>
      <vt:lpstr>Storybook</vt:lpstr>
      <vt:lpstr>PowerPoint Presentation</vt:lpstr>
      <vt:lpstr>Migration Path from JSP to React</vt:lpstr>
      <vt:lpstr>Gradual replacement of JSP pages with React components</vt:lpstr>
      <vt:lpstr>Handling Legacy Code and Ensuring Compatibility</vt:lpstr>
      <vt:lpstr>Code Examples and Practical Implementation</vt:lpstr>
      <vt:lpstr>Managing forms and user input in React</vt:lpstr>
      <vt:lpstr>Integrating React with existing backend services</vt:lpstr>
      <vt:lpstr>Final Benefits of Migration</vt:lpstr>
      <vt:lpstr>Improved Development Workflow and Faster Iterations</vt:lpstr>
      <vt:lpstr>Future-proofing the application with modern technologies</vt:lpstr>
      <vt:lpstr>Case study subject (updated)</vt:lpstr>
      <vt:lpstr>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Dmitry Kekelidze</dc:creator>
  <cp:lastModifiedBy>Dmitry Kekelidze</cp:lastModifiedBy>
  <cp:revision>17</cp:revision>
  <dcterms:created xsi:type="dcterms:W3CDTF">2025-04-23T14:19:05Z</dcterms:created>
  <dcterms:modified xsi:type="dcterms:W3CDTF">2025-04-30T15:30:08Z</dcterms:modified>
</cp:coreProperties>
</file>